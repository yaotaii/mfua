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ECDEE-CF6B-4B77-92B0-F794E9D7C1AD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539CFC-5FAF-42AD-AC3A-6755A928BD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608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39CFC-5FAF-42AD-AC3A-6755A928BDE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8092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39CFC-5FAF-42AD-AC3A-6755A928BDE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890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A23F-03FF-4F36-9EBA-A38DC095195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4863-BB0A-4212-B7C2-0873044B0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8915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A23F-03FF-4F36-9EBA-A38DC095195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4863-BB0A-4212-B7C2-0873044B0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02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A23F-03FF-4F36-9EBA-A38DC095195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4863-BB0A-4212-B7C2-0873044B0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917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A23F-03FF-4F36-9EBA-A38DC095195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4863-BB0A-4212-B7C2-0873044B0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093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A23F-03FF-4F36-9EBA-A38DC095195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4863-BB0A-4212-B7C2-0873044B0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883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A23F-03FF-4F36-9EBA-A38DC095195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4863-BB0A-4212-B7C2-0873044B0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7234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A23F-03FF-4F36-9EBA-A38DC095195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4863-BB0A-4212-B7C2-0873044B0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579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A23F-03FF-4F36-9EBA-A38DC095195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4863-BB0A-4212-B7C2-0873044B0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69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8150A23F-03FF-4F36-9EBA-A38DC095195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4BF44863-BB0A-4212-B7C2-0873044B0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289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A23F-03FF-4F36-9EBA-A38DC095195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4863-BB0A-4212-B7C2-0873044B0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825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A23F-03FF-4F36-9EBA-A38DC095195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4863-BB0A-4212-B7C2-0873044B0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071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A23F-03FF-4F36-9EBA-A38DC095195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4863-BB0A-4212-B7C2-0873044B0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643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A23F-03FF-4F36-9EBA-A38DC095195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4863-BB0A-4212-B7C2-0873044B0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1526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A23F-03FF-4F36-9EBA-A38DC095195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4863-BB0A-4212-B7C2-0873044B0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700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A23F-03FF-4F36-9EBA-A38DC095195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4863-BB0A-4212-B7C2-0873044B0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349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A23F-03FF-4F36-9EBA-A38DC095195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4863-BB0A-4212-B7C2-0873044B0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752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A23F-03FF-4F36-9EBA-A38DC095195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44863-BB0A-4212-B7C2-0873044B0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022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150A23F-03FF-4F36-9EBA-A38DC0951958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BF44863-BB0A-4212-B7C2-0873044B0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3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roblox.com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9A96E0-1725-62DC-441B-BEF44BD9E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Что такое «ограничение доступа», с чем их едят и как обходят?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4DABDF-ED9C-CA27-59F8-A6BD403DDB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Презентацию сделал</a:t>
            </a:r>
          </a:p>
          <a:p>
            <a:pPr algn="r"/>
            <a:r>
              <a:rPr lang="ru-RU" dirty="0"/>
              <a:t>Студент 2 курса</a:t>
            </a:r>
          </a:p>
          <a:p>
            <a:pPr algn="r"/>
            <a:r>
              <a:rPr lang="ru-RU" dirty="0"/>
              <a:t>Группы 28ПРд4410</a:t>
            </a:r>
          </a:p>
          <a:p>
            <a:pPr algn="r"/>
            <a:r>
              <a:rPr lang="ru-RU" dirty="0"/>
              <a:t>Пасько В.Д.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D94D71-01BA-3E68-2DA0-BEE3CD2A4761}"/>
              </a:ext>
            </a:extLst>
          </p:cNvPr>
          <p:cNvSpPr txBox="1"/>
          <p:nvPr/>
        </p:nvSpPr>
        <p:spPr>
          <a:xfrm>
            <a:off x="0" y="6559520"/>
            <a:ext cx="98224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/>
              <a:t>(Презентация несёт исключительно образовательный характер и не призывает нарушать законы РФ и не пытается оскорбить кого-либо)</a:t>
            </a:r>
          </a:p>
        </p:txBody>
      </p:sp>
    </p:spTree>
    <p:extLst>
      <p:ext uri="{BB962C8B-B14F-4D97-AF65-F5344CB8AC3E}">
        <p14:creationId xmlns:p14="http://schemas.microsoft.com/office/powerpoint/2010/main" val="537339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66CDA3-A092-326B-15E4-57C9315DB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62" y="609601"/>
            <a:ext cx="4336570" cy="1371600"/>
          </a:xfrm>
        </p:spPr>
        <p:txBody>
          <a:bodyPr/>
          <a:lstStyle/>
          <a:p>
            <a:pPr algn="ctr"/>
            <a:r>
              <a:rPr lang="ru-RU" dirty="0"/>
              <a:t>Ограничение доступа </a:t>
            </a:r>
            <a:br>
              <a:rPr lang="ru-RU" dirty="0"/>
            </a:br>
            <a:r>
              <a:rPr lang="ru-RU" dirty="0"/>
              <a:t>= </a:t>
            </a:r>
            <a:br>
              <a:rPr lang="ru-RU" dirty="0"/>
            </a:br>
            <a:r>
              <a:rPr lang="ru-RU" dirty="0"/>
              <a:t>сетевой фильтр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C0B7E02-8624-8031-6C4B-9AB4E6B0D6B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15938" y="2055024"/>
            <a:ext cx="417459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 дать открыть сайт/сервис по команде сверху.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Исполнитель: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Роскомнадзор (РКН)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федеральный орган.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Инструмент: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Реестр запрещенной информации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(список всего плохого).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Кто внедряет: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Операторы связи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(Ростелеком, ЭР-Телеком, местные провайдеры) через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ТСПУ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92142E2-F95C-0340-48AD-68B3C13D528F}"/>
              </a:ext>
            </a:extLst>
          </p:cNvPr>
          <p:cNvSpPr/>
          <p:nvPr/>
        </p:nvSpPr>
        <p:spPr>
          <a:xfrm>
            <a:off x="5191432" y="811161"/>
            <a:ext cx="2477729" cy="722671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ПРЕЗИДЕНТ</a:t>
            </a:r>
            <a:r>
              <a:rPr lang="en-US" b="1" dirty="0">
                <a:solidFill>
                  <a:srgbClr val="C00000"/>
                </a:solidFill>
              </a:rPr>
              <a:t>/C</a:t>
            </a:r>
            <a:r>
              <a:rPr lang="ru-RU" b="1" dirty="0">
                <a:solidFill>
                  <a:srgbClr val="C00000"/>
                </a:solidFill>
              </a:rPr>
              <a:t>УД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7A6DB58-F746-62E2-BACD-DAE0EE772BD2}"/>
              </a:ext>
            </a:extLst>
          </p:cNvPr>
          <p:cNvSpPr/>
          <p:nvPr/>
        </p:nvSpPr>
        <p:spPr>
          <a:xfrm>
            <a:off x="5191432" y="2543401"/>
            <a:ext cx="2477729" cy="722671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«ЗАБЛОКИРОВАТЬ!»</a:t>
            </a:r>
          </a:p>
        </p:txBody>
      </p:sp>
      <p:sp>
        <p:nvSpPr>
          <p:cNvPr id="9" name="Стрелка: вниз 8">
            <a:extLst>
              <a:ext uri="{FF2B5EF4-FFF2-40B4-BE49-F238E27FC236}">
                <a16:creationId xmlns:a16="http://schemas.microsoft.com/office/drawing/2014/main" id="{E23ACDD6-054B-45A9-5E0E-A7475F5F3C96}"/>
              </a:ext>
            </a:extLst>
          </p:cNvPr>
          <p:cNvSpPr/>
          <p:nvPr/>
        </p:nvSpPr>
        <p:spPr>
          <a:xfrm>
            <a:off x="6253315" y="1665872"/>
            <a:ext cx="353961" cy="714601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E86BAA70-27D3-1BF6-E4A1-E4637594B09E}"/>
              </a:ext>
            </a:extLst>
          </p:cNvPr>
          <p:cNvSpPr/>
          <p:nvPr/>
        </p:nvSpPr>
        <p:spPr>
          <a:xfrm>
            <a:off x="6253315" y="3429000"/>
            <a:ext cx="353961" cy="714601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2170EFCE-002A-08DF-7EE5-BD597F6752F5}"/>
              </a:ext>
            </a:extLst>
          </p:cNvPr>
          <p:cNvSpPr/>
          <p:nvPr/>
        </p:nvSpPr>
        <p:spPr>
          <a:xfrm>
            <a:off x="5191430" y="4306529"/>
            <a:ext cx="2477729" cy="722671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РКН</a:t>
            </a:r>
          </a:p>
        </p:txBody>
      </p:sp>
      <p:sp>
        <p:nvSpPr>
          <p:cNvPr id="12" name="Стрелка: вниз 11">
            <a:extLst>
              <a:ext uri="{FF2B5EF4-FFF2-40B4-BE49-F238E27FC236}">
                <a16:creationId xmlns:a16="http://schemas.microsoft.com/office/drawing/2014/main" id="{DCCC9592-A4F0-7947-708F-8B0FE20EAFAA}"/>
              </a:ext>
            </a:extLst>
          </p:cNvPr>
          <p:cNvSpPr/>
          <p:nvPr/>
        </p:nvSpPr>
        <p:spPr>
          <a:xfrm rot="16200000">
            <a:off x="7993076" y="4310563"/>
            <a:ext cx="353961" cy="714601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97EC2B0-E6BB-C0DD-5C80-C7FC36E6FC3C}"/>
              </a:ext>
            </a:extLst>
          </p:cNvPr>
          <p:cNvSpPr/>
          <p:nvPr/>
        </p:nvSpPr>
        <p:spPr>
          <a:xfrm>
            <a:off x="8670954" y="4279011"/>
            <a:ext cx="2477729" cy="722671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Реестр</a:t>
            </a:r>
          </a:p>
        </p:txBody>
      </p:sp>
      <p:sp>
        <p:nvSpPr>
          <p:cNvPr id="14" name="Стрелка: вниз 13">
            <a:extLst>
              <a:ext uri="{FF2B5EF4-FFF2-40B4-BE49-F238E27FC236}">
                <a16:creationId xmlns:a16="http://schemas.microsoft.com/office/drawing/2014/main" id="{C961A90A-B49F-E42D-ACC2-A45D1E1E96B2}"/>
              </a:ext>
            </a:extLst>
          </p:cNvPr>
          <p:cNvSpPr/>
          <p:nvPr/>
        </p:nvSpPr>
        <p:spPr>
          <a:xfrm rot="10800000">
            <a:off x="9732837" y="3428999"/>
            <a:ext cx="353961" cy="714601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62C91D2-A3CD-B19B-FCDB-FB198C61737A}"/>
              </a:ext>
            </a:extLst>
          </p:cNvPr>
          <p:cNvSpPr/>
          <p:nvPr/>
        </p:nvSpPr>
        <p:spPr>
          <a:xfrm>
            <a:off x="8670952" y="2543401"/>
            <a:ext cx="2477729" cy="722671"/>
          </a:xfrm>
          <a:prstGeom prst="roundRect">
            <a:avLst/>
          </a:prstGeom>
          <a:solidFill>
            <a:srgbClr val="FFFF00"/>
          </a:solidFill>
          <a:ln>
            <a:solidFill>
              <a:schemeClr val="bg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002060"/>
                </a:solidFill>
              </a:rPr>
              <a:t>Оператор связи</a:t>
            </a:r>
          </a:p>
        </p:txBody>
      </p:sp>
      <p:sp>
        <p:nvSpPr>
          <p:cNvPr id="16" name="Стрелка: вниз 15">
            <a:extLst>
              <a:ext uri="{FF2B5EF4-FFF2-40B4-BE49-F238E27FC236}">
                <a16:creationId xmlns:a16="http://schemas.microsoft.com/office/drawing/2014/main" id="{70B24B21-4D22-BBA2-D37B-345334E77DBD}"/>
              </a:ext>
            </a:extLst>
          </p:cNvPr>
          <p:cNvSpPr/>
          <p:nvPr/>
        </p:nvSpPr>
        <p:spPr>
          <a:xfrm rot="10800000">
            <a:off x="9732837" y="1679631"/>
            <a:ext cx="353961" cy="714601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B6F218D-CC2F-9F9C-7597-5FF735918AA1}"/>
              </a:ext>
            </a:extLst>
          </p:cNvPr>
          <p:cNvSpPr/>
          <p:nvPr/>
        </p:nvSpPr>
        <p:spPr>
          <a:xfrm>
            <a:off x="8670952" y="811161"/>
            <a:ext cx="2477729" cy="72267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ТСПУ</a:t>
            </a:r>
          </a:p>
        </p:txBody>
      </p:sp>
    </p:spTree>
    <p:extLst>
      <p:ext uri="{BB962C8B-B14F-4D97-AF65-F5344CB8AC3E}">
        <p14:creationId xmlns:p14="http://schemas.microsoft.com/office/powerpoint/2010/main" val="161157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46149-6464-78BD-69A6-A1E40DF09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241" y="0"/>
            <a:ext cx="11413514" cy="1371600"/>
          </a:xfrm>
        </p:spPr>
        <p:txBody>
          <a:bodyPr>
            <a:normAutofit/>
          </a:bodyPr>
          <a:lstStyle/>
          <a:p>
            <a:r>
              <a:rPr lang="ru-RU" b="1" dirty="0"/>
              <a:t>Откуда ноги растут: причины и инициаторы</a:t>
            </a:r>
            <a:br>
              <a:rPr lang="ru-RU" b="1" dirty="0"/>
            </a:br>
            <a:endParaRPr lang="ru-RU" dirty="0"/>
          </a:p>
        </p:txBody>
      </p:sp>
      <p:pic>
        <p:nvPicPr>
          <p:cNvPr id="6" name="Объект 5" descr="Изображение выглядит как человек, одежда, Человеческое лицо, неб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C1900E1-7EEE-33F8-3C71-8B7A10881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099" y="2084439"/>
            <a:ext cx="4123490" cy="3895396"/>
          </a:xfrm>
        </p:spPr>
      </p:pic>
      <p:sp>
        <p:nvSpPr>
          <p:cNvPr id="9" name="Облачко с текстом: прямоугольное 8">
            <a:extLst>
              <a:ext uri="{FF2B5EF4-FFF2-40B4-BE49-F238E27FC236}">
                <a16:creationId xmlns:a16="http://schemas.microsoft.com/office/drawing/2014/main" id="{BAB8D61F-259B-6BF8-CAB6-02CF2ADA8C4D}"/>
              </a:ext>
            </a:extLst>
          </p:cNvPr>
          <p:cNvSpPr/>
          <p:nvPr/>
        </p:nvSpPr>
        <p:spPr>
          <a:xfrm>
            <a:off x="6882855" y="1828800"/>
            <a:ext cx="4167734" cy="1356851"/>
          </a:xfrm>
          <a:prstGeom prst="wedgeRectCallo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Всех иностранцев заблокировать!</a:t>
            </a:r>
          </a:p>
          <a:p>
            <a:pPr algn="ctr"/>
            <a:r>
              <a:rPr lang="ru-RU" dirty="0">
                <a:solidFill>
                  <a:schemeClr val="bg1"/>
                </a:solidFill>
              </a:rPr>
              <a:t>Всех граждан перенести в </a:t>
            </a:r>
            <a:r>
              <a:rPr lang="en-US" dirty="0">
                <a:solidFill>
                  <a:schemeClr val="bg1"/>
                </a:solidFill>
              </a:rPr>
              <a:t>MAX</a:t>
            </a:r>
            <a:r>
              <a:rPr lang="ru-RU" dirty="0">
                <a:solidFill>
                  <a:schemeClr val="bg1"/>
                </a:solidFill>
              </a:rPr>
              <a:t>!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ru-RU" dirty="0">
                <a:solidFill>
                  <a:schemeClr val="bg1"/>
                </a:solidFill>
              </a:rPr>
              <a:t>Всех несогласных – в БАН!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790C1D-D5CC-7510-5390-45FFA3E9F69F}"/>
              </a:ext>
            </a:extLst>
          </p:cNvPr>
          <p:cNvSpPr txBox="1"/>
          <p:nvPr/>
        </p:nvSpPr>
        <p:spPr>
          <a:xfrm>
            <a:off x="389242" y="3449576"/>
            <a:ext cx="570675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Формальные причины (формулировки):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Запрещенный контент (детская порнография, суицид, наркотики — 15-ФЗ).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Нарушение авторских прав (антипиратский закон — 187-ФЗ).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Нежелательные организации (признанные иностранными агентами или нежелательными).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Отказ удалить "фейки" (про войну, армию и т.д.).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Отказ хранить данные пользователей в России ("закон о локализации").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3F5ED2-5019-66E6-E113-4403FEFFEF37}"/>
              </a:ext>
            </a:extLst>
          </p:cNvPr>
          <p:cNvSpPr txBox="1"/>
          <p:nvPr/>
        </p:nvSpPr>
        <p:spPr>
          <a:xfrm>
            <a:off x="389242" y="1115378"/>
            <a:ext cx="570675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Инициаторы (кто стучит):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Федеральные органы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(Прокуратура, МВД, ФСБ) — экстремизм, наркотики, призывы к беспорядкам.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Суды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— защита авторских прав ("пираты"), клевета, частные иски.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РКН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— сам находит (например, сайты с пропагандой нетрадиционных ценностей или призывы к санкциям).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65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оскомнадзор выбирает… что заблокировать сегодня 🎰 #shorts #ркн #роскомнадзор">
            <a:hlinkClick r:id="" action="ppaction://media"/>
            <a:extLst>
              <a:ext uri="{FF2B5EF4-FFF2-40B4-BE49-F238E27FC236}">
                <a16:creationId xmlns:a16="http://schemas.microsoft.com/office/drawing/2014/main" id="{3F982DF3-CF60-6317-C560-4271B74F4F6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35939" y="712838"/>
            <a:ext cx="2914650" cy="5181600"/>
          </a:xfr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8D44489C-4D9F-BD51-DA44-EB996D4729D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07102" y="2149477"/>
            <a:ext cx="709791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800" b="1" cap="non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 бумаге схема весьма проста и </a:t>
            </a:r>
            <a:r>
              <a:rPr lang="ru-RU" altLang="ru-RU" sz="1800" b="1" cap="none" dirty="0" err="1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состоиз</a:t>
            </a:r>
            <a:r>
              <a:rPr lang="ru-RU" altLang="ru-RU" sz="1800" b="1" cap="non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всего из пары пунктов:</a:t>
            </a:r>
            <a:endParaRPr kumimoji="0" lang="ru-RU" altLang="ru-R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Реестр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(РКН говорит: "Сайт </a:t>
            </a:r>
            <a:r>
              <a:rPr lang="en-US" altLang="ru-RU" sz="1800" cap="none" dirty="0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freeinternet.ru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в розыск")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Рассылк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 (провайдеры получили список: "блокируем </a:t>
            </a:r>
            <a:r>
              <a:rPr lang="en-US" altLang="ru-RU" sz="1800" cap="none" dirty="0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freeinternet.ru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ТСПУ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(коробка провайдера включает фильтры)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Конец</a:t>
            </a:r>
            <a:r>
              <a:rPr kumimoji="0" lang="en-US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BAN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(для пользователей сайт резко становится картошкой)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807930D1-4D2A-B124-4604-BBC73E8BF9FF}"/>
              </a:ext>
            </a:extLst>
          </p:cNvPr>
          <p:cNvSpPr txBox="1">
            <a:spLocks/>
          </p:cNvSpPr>
          <p:nvPr/>
        </p:nvSpPr>
        <p:spPr>
          <a:xfrm>
            <a:off x="265471" y="285135"/>
            <a:ext cx="8155858" cy="8554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Как гасят сайты: от реестра до розетки</a:t>
            </a:r>
          </a:p>
        </p:txBody>
      </p:sp>
    </p:spTree>
    <p:extLst>
      <p:ext uri="{BB962C8B-B14F-4D97-AF65-F5344CB8AC3E}">
        <p14:creationId xmlns:p14="http://schemas.microsoft.com/office/powerpoint/2010/main" val="2901543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5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37EF72-CA13-18AF-563A-60CF6F307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6142"/>
            <a:ext cx="8155858" cy="855406"/>
          </a:xfrm>
        </p:spPr>
        <p:txBody>
          <a:bodyPr/>
          <a:lstStyle/>
          <a:p>
            <a:r>
              <a:rPr lang="ru-RU" dirty="0"/>
              <a:t>От сайта до картошки – всего один бан</a:t>
            </a:r>
          </a:p>
        </p:txBody>
      </p:sp>
      <p:pic>
        <p:nvPicPr>
          <p:cNvPr id="6" name="Объект 5" descr="Изображение выглядит как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B0BD826-A82E-A0B7-91BA-67C91D117A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247" y="653845"/>
            <a:ext cx="2910332" cy="5181600"/>
          </a:xfr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963598BB-08FC-ED19-E51B-0FF27E448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95" y="1201720"/>
            <a:ext cx="815585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Вердикт вынесли – сайт заблокировать, РКН выполнил и ты решил посмотреть, а вправду сайт заблокирован? Как это выглядит:</a:t>
            </a:r>
          </a:p>
          <a:p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Ты пытаешься открыть сайт — твой компьютер шлет запрос (пакеты) в сторону сервера.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Запрос проходит через ТСПУ провайдера — главный КПП.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ТСПУ сверяет адрес назначения со своим "стоп-листом".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Если адрес в списке — ТСПУ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разрывает соединение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 пропускает ответ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от сервера.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Как именно рвет (2 режима):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Активный разрыв: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ТСПУ посылает специальные пакеты (RST) твоему компу и серверу, убеждая их, что связь сломалась. Ты видишь ошибку соединения. (</a:t>
            </a:r>
            <a:r>
              <a:rPr lang="ru-R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ERR_CONNECTION_RESET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Тихая потеря: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ТСПУ просто выбрасывает твои пакеты в мусорку и игнорирует ответы сервера. Запрос уходит в пустоту.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ru-R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ERR_CONNECTION_TIMED_OUT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55194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2E8DA1-F8CB-133C-0B81-FD5B927D0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63" y="-31955"/>
            <a:ext cx="5699416" cy="1371600"/>
          </a:xfrm>
        </p:spPr>
        <p:txBody>
          <a:bodyPr/>
          <a:lstStyle/>
          <a:p>
            <a:r>
              <a:rPr lang="ru-RU" b="1" dirty="0"/>
              <a:t>Три кита блокировок: IP, DNS, SNI</a:t>
            </a:r>
            <a:br>
              <a:rPr lang="ru-RU" b="1" dirty="0"/>
            </a:br>
            <a:endParaRPr lang="ru-RU" dirty="0"/>
          </a:p>
        </p:txBody>
      </p:sp>
      <p:pic>
        <p:nvPicPr>
          <p:cNvPr id="13" name="Старый что с тобой блокировка дискорд #shorts #gameshorts #game #games #игра #иг">
            <a:hlinkClick r:id="" action="ppaction://media"/>
            <a:extLst>
              <a:ext uri="{FF2B5EF4-FFF2-40B4-BE49-F238E27FC236}">
                <a16:creationId xmlns:a16="http://schemas.microsoft.com/office/drawing/2014/main" id="{11E6082E-C1EE-7BDB-4F0D-823C83C0F04A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430371" y="653845"/>
            <a:ext cx="3886200" cy="5181600"/>
          </a:xfrm>
        </p:spPr>
      </p:pic>
      <p:sp>
        <p:nvSpPr>
          <p:cNvPr id="14" name="Rectangle 5">
            <a:extLst>
              <a:ext uri="{FF2B5EF4-FFF2-40B4-BE49-F238E27FC236}">
                <a16:creationId xmlns:a16="http://schemas.microsoft.com/office/drawing/2014/main" id="{C4615513-94EE-86DA-5FDC-A601BA3AFDB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69863" y="1061750"/>
            <a:ext cx="6865118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Метод 1: Блокировка по IP (самая тупая)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Что происходит: Блокируется целый IP-адрес, на котором живет сайт.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Побочка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Если на том же IP висят сотни других сайтов — ложатся все.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Пример: Заблокировали хостинг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Pages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легли все сайты на этом хостинге.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Метод 2: Блокировка по DNS (чуть умнее)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Что происходит: ТСПУ подменяет ответ на запрос "какой IP у сайта?".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Как работает: Ты спрашиваешь "где сайт?", тебе отдают адрес заглушки с надписью "заблокировано".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Нюанс: Если знать настоящий IP и вбить его напрямую — сайт откроется.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Метод 3: Блокировка по SNI (самая хитрая)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Что происходит: ТСПУ заглядывает в самое начало HTTPS-соединения и читает имя сайта.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Как работает: Видит внутри пакета имя discord.com — обрывает соединение.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Фишка: Не важно, на каком IP висит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Discord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Важно, что ты именно к нему идешь.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785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766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B9DAC-37C8-DF3D-E62C-E24C68F1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047" y="242272"/>
            <a:ext cx="6494218" cy="1151091"/>
          </a:xfrm>
        </p:spPr>
        <p:txBody>
          <a:bodyPr/>
          <a:lstStyle/>
          <a:p>
            <a:pPr algn="ctr"/>
            <a:r>
              <a:rPr lang="ru-RU" dirty="0"/>
              <a:t>Пример</a:t>
            </a:r>
            <a:br>
              <a:rPr lang="ru-RU" dirty="0"/>
            </a:br>
            <a:r>
              <a:rPr lang="en-US" dirty="0"/>
              <a:t>ROBLOX – </a:t>
            </a:r>
            <a:r>
              <a:rPr lang="ru-RU" dirty="0"/>
              <a:t>я запрещаю вам играть</a:t>
            </a:r>
          </a:p>
        </p:txBody>
      </p:sp>
      <p:pic>
        <p:nvPicPr>
          <p:cNvPr id="6" name="Объект 5" descr="Изображение выглядит как мультфильм, игрушка, черно-белый">
            <a:extLst>
              <a:ext uri="{FF2B5EF4-FFF2-40B4-BE49-F238E27FC236}">
                <a16:creationId xmlns:a16="http://schemas.microsoft.com/office/drawing/2014/main" id="{7407C0BD-CE5A-F732-7AC2-D8FB8905F7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117" y="994799"/>
            <a:ext cx="4868402" cy="4868402"/>
          </a:xfr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85D0079-F798-5DA7-5529-1E86156AF77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31775" y="1600201"/>
            <a:ext cx="6599342" cy="486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800" b="1" cap="non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Это не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просто сайт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roblox.com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а сами игровые серверы, где бегают человечки.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Проблема: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У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Roblox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тысячи серверов по всему миру, IP-адреса постоянно меняются. Тупо по IP не заблокируешь — зацепишь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пол-интернета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Как поймали (SNI + DPI):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ТСПУ ловит момент подключения к игре.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Смотрит на имя внутри пакета (SNI):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*.roblox.com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или игровые домены.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Обнаружив знакомую метку — рвет соединение (RST-пакеты).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Результат для пользователя: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Сайт может открываться.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Лаунчер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может запускаться.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Но при попытке войти в игру — "Не удалось подключиться", "Ошибка соединения" или бесконечная загрузка.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74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B9B289-C06B-1D54-9077-CF34E72E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42" y="657532"/>
            <a:ext cx="7269636" cy="749710"/>
          </a:xfrm>
        </p:spPr>
        <p:txBody>
          <a:bodyPr/>
          <a:lstStyle/>
          <a:p>
            <a:r>
              <a:rPr lang="en-US" dirty="0" err="1"/>
              <a:t>Vpn</a:t>
            </a:r>
            <a:r>
              <a:rPr lang="ru-RU" dirty="0"/>
              <a:t>: ЛУЧ СВЕТА ИЛИ ЛОЖНАЯ НАДЕЖДА?</a:t>
            </a:r>
          </a:p>
        </p:txBody>
      </p:sp>
      <p:pic>
        <p:nvPicPr>
          <p:cNvPr id="5" name="РКН против VPN">
            <a:hlinkClick r:id="" action="ppaction://media"/>
            <a:extLst>
              <a:ext uri="{FF2B5EF4-FFF2-40B4-BE49-F238E27FC236}">
                <a16:creationId xmlns:a16="http://schemas.microsoft.com/office/drawing/2014/main" id="{159E0F98-8C82-7A1F-3E5C-762C4A993F1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74863" y="526025"/>
            <a:ext cx="2914650" cy="5181600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5E187CA2-7F77-F83C-D2A1-13E5A0D7C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2487" y="1297858"/>
            <a:ext cx="7002747" cy="4527755"/>
          </a:xfrm>
        </p:spPr>
        <p:txBody>
          <a:bodyPr/>
          <a:lstStyle/>
          <a:p>
            <a:r>
              <a:rPr lang="ru-RU" b="1" dirty="0"/>
              <a:t>VPN — это защищенный туннель</a:t>
            </a:r>
            <a:r>
              <a:rPr lang="ru-RU" dirty="0"/>
              <a:t>. Вы включаете программу, и весь ваш интернет-трафик начинает утекать не сразу к сайтам, а сначала к специальному серверу где-нибудь в другой стране, и только оттуда — в большой интернет.</a:t>
            </a:r>
          </a:p>
          <a:p>
            <a:r>
              <a:rPr lang="ru-RU" b="1" dirty="0"/>
              <a:t>Как VPN обходит блокировки (3 причины):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Смена IP:</a:t>
            </a:r>
            <a:r>
              <a:rPr lang="ru-RU" dirty="0"/>
              <a:t> ТСПУ видит, что ты стучишься только к VPN-серверу (один IP). Что внутри туннеля — не видно.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Шифрование всего:</a:t>
            </a:r>
            <a:r>
              <a:rPr lang="ru-RU" dirty="0"/>
              <a:t> Данные внутри туннеля зашифрованы. DPI не может прочитать, на какой сайт ты идешь (SNI спрятан).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Выход в интернет из другой точки:</a:t>
            </a:r>
            <a:r>
              <a:rPr lang="ru-RU" dirty="0"/>
              <a:t> Твой запрос доходит до VPN-сервера в условном Амстердаме, и уже оттуда идет на запрещенный сайт. Для сайта ты — голландец.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542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7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Терпи, потому что Господь с тобой не закончил: что за мем с медведем">
            <a:extLst>
              <a:ext uri="{FF2B5EF4-FFF2-40B4-BE49-F238E27FC236}">
                <a16:creationId xmlns:a16="http://schemas.microsoft.com/office/drawing/2014/main" id="{80EC342D-8B1E-DB9A-89FF-8F39F5FD2C3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051" y="609600"/>
            <a:ext cx="51816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33190B71-E429-4990-59B4-DD4C880F29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71256" y="376224"/>
            <a:ext cx="471635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Почему VPN не работают???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«</a:t>
            </a:r>
            <a:r>
              <a:rPr lang="ru-RU" altLang="ru-RU" cap="none" dirty="0" err="1">
                <a:ln>
                  <a:noFill/>
                </a:ln>
                <a:solidFill>
                  <a:schemeClr val="tx1"/>
                </a:solidFill>
                <a:effectLst/>
              </a:rPr>
              <a:t>Шоб</a:t>
            </a:r>
            <a:r>
              <a:rPr lang="ru-RU" altLang="ru-RU" cap="none" dirty="0">
                <a:ln>
                  <a:noFill/>
                </a:ln>
                <a:solidFill>
                  <a:schemeClr val="tx1"/>
                </a:solidFill>
                <a:effectLst/>
              </a:rPr>
              <a:t> не втыкал!» - РКН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1AD62B3-5D4C-A4F1-B0BE-5F907996B5A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71256" y="1413063"/>
            <a:ext cx="5583647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Как ловят VPN</a:t>
            </a:r>
            <a:r>
              <a:rPr lang="ru-RU" altLang="ru-RU" b="1" cap="non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Блокировка по IP: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Нашли сервер — внесли адрес в реестр. Провайдер режет всё на этот IP.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Анализ трафика (DPI):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Смотрят на поведение. Если пакеты идут странно (не как обычный веб-серфинг) — вычисляют VPN и глушат.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Блокировка протоколов: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OpenVPN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WireGuard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IPSec — у каждого свой "почерк". ТСПУ умеет их узнавать и резать.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Кто в зоне риска (примеры):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OpenVPN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(старый, легко вычисляется по характерным пакетам).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WireGuard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(новый, быстрый, но уже научились распознавать).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Просто известные IP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(публичные списки VPN-серверов).</a:t>
            </a:r>
          </a:p>
        </p:txBody>
      </p:sp>
    </p:spTree>
    <p:extLst>
      <p:ext uri="{BB962C8B-B14F-4D97-AF65-F5344CB8AC3E}">
        <p14:creationId xmlns:p14="http://schemas.microsoft.com/office/powerpoint/2010/main" val="2000933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F6284-86EE-D911-63E1-4B663714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03" y="66950"/>
            <a:ext cx="4875386" cy="1321210"/>
          </a:xfrm>
        </p:spPr>
        <p:txBody>
          <a:bodyPr>
            <a:normAutofit/>
          </a:bodyPr>
          <a:lstStyle/>
          <a:p>
            <a:r>
              <a:rPr lang="ru-RU" dirty="0"/>
              <a:t>Обходы для смешариков</a:t>
            </a:r>
            <a:br>
              <a:rPr lang="ru-RU" dirty="0"/>
            </a:br>
            <a:r>
              <a:rPr lang="ru-RU" b="1" dirty="0"/>
              <a:t>VLESS, XTLS и </a:t>
            </a:r>
            <a:r>
              <a:rPr lang="ru-RU" b="1" dirty="0" err="1"/>
              <a:t>Reality</a:t>
            </a:r>
            <a:br>
              <a:rPr lang="ru-RU" b="1" dirty="0"/>
            </a:br>
            <a:endParaRPr lang="ru-RU" dirty="0"/>
          </a:p>
        </p:txBody>
      </p:sp>
      <p:pic>
        <p:nvPicPr>
          <p:cNvPr id="9218" name="Picture 2" descr="VPN (мем) | анекдоты и мемы | Интернет &amp; Брат | №74184">
            <a:extLst>
              <a:ext uri="{FF2B5EF4-FFF2-40B4-BE49-F238E27FC236}">
                <a16:creationId xmlns:a16="http://schemas.microsoft.com/office/drawing/2014/main" id="{0EF188CB-A664-AF1D-4392-185F10D731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697" y="698090"/>
            <a:ext cx="51816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1FE274CB-B2F5-603A-F5BC-4A3B2A903AB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27013" y="1589626"/>
            <a:ext cx="6319684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Как работает VLESS + XTLS: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Трафик не просто шифруется, а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маскируется под обычный HTTPS-запрос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 нормальному сайту (например, к сайту Microsoft или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Cloudflare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Используется технология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XTLS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шифруется только начало соединения, а данные летят в открытую, но выглядят как обычный веб-серфинг.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Технология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Reality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(квинтэссенция):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Туннель маскируется под реальное соединение с реальным сайтом.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Даже если DPI глубоко копает — он видит: "Человек зашел на сайт Amazon. Читает статьи про облака. Всё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ок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 самом деле внутри этого соединения — YouTube или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Discord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Почему это не ловят: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Трафик неотличим от настоящего.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Невозможно заблокировать, не положив Amazon,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Cloudflare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пол-интернета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754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 descr="Изображение выглядит как текст, Человеческое лицо, улыбка, Мультфильм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493E644-1360-FDE6-9534-4E76830BE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24349"/>
            <a:ext cx="5181600" cy="5181600"/>
          </a:xfr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F1BEE8DF-BA89-8ADD-C37A-406771C1F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1759" y="208850"/>
            <a:ext cx="518924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Zapret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GoodbyeDPI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Точечный удар по блокировкам 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5713017-5C48-F71D-270A-533BCC04244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41301" y="1282889"/>
            <a:ext cx="544322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Как работают: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Обрезают лишнее: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Убирают из пакета тот самый SNI (имя сайта), по которому ТСПУ опознает запрещенку. ТСПУ видит пакет, но не понимает, куд</a:t>
            </a:r>
            <a:r>
              <a:rPr lang="ru-RU" altLang="ru-RU" sz="1800" cap="non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это.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Фрагментируют пакеты: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Режут пакет на мелкие кусочки. ТСПУ собирает пазл, но не успевает сложить картинку, пока соединение уже установилось.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Почему это работает: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ТСПУ — тупое железо с жесткими лимитами. Если пакет "странный" (не по стандарту), оно его пропускает, чтобы не ломать интернет всем подряд.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Минус: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Работает только с HTTP/HTTPS. Игры и мессенджеры может не тянуть.</a:t>
            </a:r>
          </a:p>
        </p:txBody>
      </p:sp>
    </p:spTree>
    <p:extLst>
      <p:ext uri="{BB962C8B-B14F-4D97-AF65-F5344CB8AC3E}">
        <p14:creationId xmlns:p14="http://schemas.microsoft.com/office/powerpoint/2010/main" val="2292557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Сетк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TM03457485[[fn=Сетка]]</Template>
  <TotalTime>275</TotalTime>
  <Words>1249</Words>
  <Application>Microsoft Office PowerPoint</Application>
  <PresentationFormat>Широкоэкранный</PresentationFormat>
  <Paragraphs>108</Paragraphs>
  <Slides>11</Slides>
  <Notes>2</Notes>
  <HiddenSlides>0</HiddenSlides>
  <MMClips>3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Aptos</vt:lpstr>
      <vt:lpstr>Arial</vt:lpstr>
      <vt:lpstr>Arial Unicode MS</vt:lpstr>
      <vt:lpstr>Century Gothic</vt:lpstr>
      <vt:lpstr>Сетка</vt:lpstr>
      <vt:lpstr>Что такое «ограничение доступа», с чем их едят и как обходят?</vt:lpstr>
      <vt:lpstr>Ограничение доступа  =  сетевой фильтр</vt:lpstr>
      <vt:lpstr>Откуда ноги растут: причины и инициаторы </vt:lpstr>
      <vt:lpstr>Презентация PowerPoint</vt:lpstr>
      <vt:lpstr>От сайта до картошки – всего один бан</vt:lpstr>
      <vt:lpstr>Три кита блокировок: IP, DNS, SNI </vt:lpstr>
      <vt:lpstr>Пример ROBLOX – я запрещаю вам играть</vt:lpstr>
      <vt:lpstr>Vpn: ЛУЧ СВЕТА ИЛИ ЛОЖНАЯ НАДЕЖДА?</vt:lpstr>
      <vt:lpstr>Почему VPN не работают??? «Шоб не втыкал!» - РКН</vt:lpstr>
      <vt:lpstr>Обходы для смешариков VLESS, XTLS и Reality </vt:lpstr>
      <vt:lpstr>Zapret / GoodbyeDPI:  Точечный удар по блокировкам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yaotai _</dc:creator>
  <cp:lastModifiedBy>yaotai _</cp:lastModifiedBy>
  <cp:revision>7</cp:revision>
  <dcterms:created xsi:type="dcterms:W3CDTF">2026-03-03T12:56:58Z</dcterms:created>
  <dcterms:modified xsi:type="dcterms:W3CDTF">2026-03-03T17:32:45Z</dcterms:modified>
</cp:coreProperties>
</file>