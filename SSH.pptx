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8E978-5790-4C54-88E8-C4F289833A22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D1F35-EB86-42EB-9A0C-73A3185868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2341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8E978-5790-4C54-88E8-C4F289833A22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D1F35-EB86-42EB-9A0C-73A3185868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615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8E978-5790-4C54-88E8-C4F289833A22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D1F35-EB86-42EB-9A0C-73A3185868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3727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8E978-5790-4C54-88E8-C4F289833A22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D1F35-EB86-42EB-9A0C-73A3185868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5394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8E978-5790-4C54-88E8-C4F289833A22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D1F35-EB86-42EB-9A0C-73A3185868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0572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8E978-5790-4C54-88E8-C4F289833A22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D1F35-EB86-42EB-9A0C-73A3185868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49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8E978-5790-4C54-88E8-C4F289833A22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D1F35-EB86-42EB-9A0C-73A3185868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8758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8E978-5790-4C54-88E8-C4F289833A22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D1F35-EB86-42EB-9A0C-73A3185868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3165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8E978-5790-4C54-88E8-C4F289833A22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D1F35-EB86-42EB-9A0C-73A3185868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794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8E978-5790-4C54-88E8-C4F289833A22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D1F35-EB86-42EB-9A0C-73A3185868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1966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8E978-5790-4C54-88E8-C4F289833A22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D1F35-EB86-42EB-9A0C-73A3185868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0437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A1C8E978-5790-4C54-88E8-C4F289833A22}" type="datetimeFigureOut">
              <a:rPr lang="ru-RU" smtClean="0"/>
              <a:t>24.03.2026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2BD1F35-EB86-42EB-9A0C-73A3185868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30768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7741A5D-7831-1C16-78B6-728CFB3D84FE}"/>
              </a:ext>
            </a:extLst>
          </p:cNvPr>
          <p:cNvSpPr txBox="1"/>
          <p:nvPr/>
        </p:nvSpPr>
        <p:spPr>
          <a:xfrm>
            <a:off x="-79925" y="99588"/>
            <a:ext cx="8292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2D050"/>
                </a:solidFill>
              </a:rPr>
              <a:t>Microsoft Windows [Version 10.0.19045.6456]</a:t>
            </a:r>
          </a:p>
          <a:p>
            <a:r>
              <a:rPr lang="en-US" dirty="0">
                <a:solidFill>
                  <a:srgbClr val="92D050"/>
                </a:solidFill>
              </a:rPr>
              <a:t>(c) </a:t>
            </a:r>
            <a:r>
              <a:rPr lang="ru-RU" dirty="0">
                <a:solidFill>
                  <a:srgbClr val="92D050"/>
                </a:solidFill>
              </a:rPr>
              <a:t>Корпорация Майкрософт (</a:t>
            </a:r>
            <a:r>
              <a:rPr lang="en-US" dirty="0">
                <a:solidFill>
                  <a:srgbClr val="92D050"/>
                </a:solidFill>
              </a:rPr>
              <a:t>Microsoft Corporation). </a:t>
            </a:r>
            <a:r>
              <a:rPr lang="ru-RU" dirty="0">
                <a:solidFill>
                  <a:srgbClr val="92D050"/>
                </a:solidFill>
              </a:rPr>
              <a:t>Все права защищены.</a:t>
            </a: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A05F2D60-28AF-DBE7-87AD-34422ACB0D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054" y="1135218"/>
            <a:ext cx="1219200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Arial Unicode MS"/>
              </a:rPr>
              <a:t>==========================================================================================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Arial Unicode MS"/>
              </a:rPr>
              <a:t> Secure Shell (SSH)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Arial Unicode MS"/>
              </a:rPr>
              <a:t>==========================================================================================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b="0" i="0" u="none" strike="noStrike" cap="none" normalizeH="0" baseline="0" dirty="0">
              <a:ln>
                <a:noFill/>
              </a:ln>
              <a:solidFill>
                <a:srgbClr val="92D050"/>
              </a:solidFill>
              <a:effectLst/>
              <a:latin typeface="Arial Unicode M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Arial Unicode MS"/>
              </a:rPr>
              <a:t>&gt; Добро пожаловать в презентацию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Arial Unicode MS"/>
              </a:rPr>
              <a:t>&gt; Протокол безопасного удаленного управления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Arial Unicode MS"/>
              </a:rPr>
              <a:t>&gt; Session ID: SSH-PRES-2026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Arial Unicode MS"/>
              </a:rPr>
              <a:t>&gt; Terminal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92D050"/>
                </a:solidFill>
                <a:effectLst/>
                <a:latin typeface="Arial Unicode MS"/>
              </a:rPr>
              <a:t>type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Arial Unicode MS"/>
              </a:rPr>
              <a:t>: xterm-256color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Arial Unicode MS"/>
              </a:rPr>
              <a:t>&gt;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Arial Unicode MS"/>
              </a:rPr>
              <a:t>&gt; [Пасько В.Д] подключен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Arial Unicode MS"/>
              </a:rPr>
              <a:t>&gt; Нажмите ENTER для продолжения… 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rgbClr val="92D05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1090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F4AD75B9-FE9A-BFC4-957C-2AB8833A4F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0"/>
            <a:ext cx="11128894" cy="6858000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92D050"/>
                </a:solidFill>
              </a:rPr>
              <a:t>$ ssh --protocol –analyze</a:t>
            </a:r>
          </a:p>
          <a:p>
            <a:r>
              <a:rPr lang="en-US" dirty="0">
                <a:solidFill>
                  <a:srgbClr val="92D050"/>
                </a:solidFill>
              </a:rPr>
              <a:t>SSH: Secure Shell Protocol</a:t>
            </a:r>
          </a:p>
          <a:p>
            <a:r>
              <a:rPr lang="en-US" dirty="0">
                <a:solidFill>
                  <a:srgbClr val="92D050"/>
                </a:solidFill>
              </a:rPr>
              <a:t>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  <a:endParaRPr lang="ru-RU" dirty="0">
              <a:solidFill>
                <a:srgbClr val="92D050"/>
              </a:solidFill>
            </a:endParaRPr>
          </a:p>
          <a:p>
            <a:r>
              <a:rPr lang="en-US" dirty="0">
                <a:solidFill>
                  <a:srgbClr val="92D050"/>
                </a:solidFill>
              </a:rPr>
              <a:t>&gt; </a:t>
            </a:r>
            <a:r>
              <a:rPr lang="ru-RU" dirty="0">
                <a:solidFill>
                  <a:srgbClr val="92D050"/>
                </a:solidFill>
              </a:rPr>
              <a:t>Модель: клиент-сервер  Клиент (</a:t>
            </a:r>
            <a:r>
              <a:rPr lang="en-US" dirty="0">
                <a:solidFill>
                  <a:srgbClr val="92D050"/>
                </a:solidFill>
              </a:rPr>
              <a:t>ssh) ←─── </a:t>
            </a:r>
            <a:r>
              <a:rPr lang="ru-RU" dirty="0">
                <a:solidFill>
                  <a:srgbClr val="92D050"/>
                </a:solidFill>
              </a:rPr>
              <a:t>зашифрованный канал ───→ Сервер (</a:t>
            </a:r>
            <a:r>
              <a:rPr lang="en-US" dirty="0" err="1">
                <a:solidFill>
                  <a:srgbClr val="92D050"/>
                </a:solidFill>
              </a:rPr>
              <a:t>sshd</a:t>
            </a:r>
            <a:r>
              <a:rPr lang="en-US" dirty="0">
                <a:solidFill>
                  <a:srgbClr val="92D050"/>
                </a:solidFill>
              </a:rPr>
              <a:t>, </a:t>
            </a:r>
            <a:r>
              <a:rPr lang="ru-RU" dirty="0">
                <a:solidFill>
                  <a:srgbClr val="92D050"/>
                </a:solidFill>
              </a:rPr>
              <a:t>порт 22)</a:t>
            </a:r>
          </a:p>
          <a:p>
            <a:r>
              <a:rPr lang="en-US" dirty="0">
                <a:solidFill>
                  <a:srgbClr val="92D050"/>
                </a:solidFill>
              </a:rPr>
              <a:t>&gt; </a:t>
            </a:r>
            <a:r>
              <a:rPr lang="ru-RU" dirty="0">
                <a:solidFill>
                  <a:srgbClr val="92D050"/>
                </a:solidFill>
              </a:rPr>
              <a:t>Пришел на смену: </a:t>
            </a:r>
            <a:r>
              <a:rPr lang="en-US" dirty="0">
                <a:solidFill>
                  <a:srgbClr val="92D050"/>
                </a:solidFill>
              </a:rPr>
              <a:t>Telnet, rlogin, </a:t>
            </a:r>
            <a:r>
              <a:rPr lang="en-US" dirty="0" err="1">
                <a:solidFill>
                  <a:srgbClr val="92D050"/>
                </a:solidFill>
              </a:rPr>
              <a:t>rsh</a:t>
            </a:r>
            <a:r>
              <a:rPr lang="en-US" dirty="0">
                <a:solidFill>
                  <a:srgbClr val="92D050"/>
                </a:solidFill>
              </a:rPr>
              <a:t>  (</a:t>
            </a:r>
            <a:r>
              <a:rPr lang="ru-RU" dirty="0">
                <a:solidFill>
                  <a:srgbClr val="92D050"/>
                </a:solidFill>
              </a:rPr>
              <a:t>передавали данные в открытом виде)</a:t>
            </a:r>
            <a:endParaRPr lang="en-US" dirty="0">
              <a:solidFill>
                <a:srgbClr val="92D050"/>
              </a:solidFill>
            </a:endParaRPr>
          </a:p>
          <a:p>
            <a:r>
              <a:rPr lang="en-US" dirty="0">
                <a:solidFill>
                  <a:srgbClr val="92D050"/>
                </a:solidFill>
              </a:rPr>
              <a:t>&gt; </a:t>
            </a:r>
            <a:r>
              <a:rPr lang="ru-RU" dirty="0">
                <a:solidFill>
                  <a:srgbClr val="92D050"/>
                </a:solidFill>
              </a:rPr>
              <a:t>Три уровня защиты:  </a:t>
            </a:r>
            <a:endParaRPr lang="en-US" dirty="0">
              <a:solidFill>
                <a:srgbClr val="92D050"/>
              </a:solidFill>
            </a:endParaRPr>
          </a:p>
          <a:p>
            <a:r>
              <a:rPr lang="ru-RU" dirty="0">
                <a:solidFill>
                  <a:srgbClr val="92D050"/>
                </a:solidFill>
              </a:rPr>
              <a:t>┌─────────────────────────────────────────────────────────────────────┐  </a:t>
            </a:r>
            <a:endParaRPr lang="en-US" dirty="0">
              <a:solidFill>
                <a:srgbClr val="92D050"/>
              </a:solidFill>
            </a:endParaRPr>
          </a:p>
          <a:p>
            <a:r>
              <a:rPr lang="ru-RU" dirty="0">
                <a:solidFill>
                  <a:srgbClr val="92D050"/>
                </a:solidFill>
              </a:rPr>
              <a:t>│ 1. ТРАНСПОРТНЫЙ УРОВЕНЬ                                    </a:t>
            </a:r>
            <a:r>
              <a:rPr lang="en-US" dirty="0">
                <a:solidFill>
                  <a:srgbClr val="92D050"/>
                </a:solidFill>
              </a:rPr>
              <a:t>			               </a:t>
            </a:r>
            <a:r>
              <a:rPr lang="ru-RU" dirty="0">
                <a:solidFill>
                  <a:srgbClr val="92D050"/>
                </a:solidFill>
              </a:rPr>
              <a:t> │</a:t>
            </a:r>
            <a:endParaRPr lang="en-US" dirty="0">
              <a:solidFill>
                <a:srgbClr val="92D050"/>
              </a:solidFill>
            </a:endParaRPr>
          </a:p>
          <a:p>
            <a:r>
              <a:rPr lang="ru-RU" dirty="0">
                <a:solidFill>
                  <a:srgbClr val="92D050"/>
                </a:solidFill>
              </a:rPr>
              <a:t>│      → Асимметричное шифрование (</a:t>
            </a:r>
            <a:r>
              <a:rPr lang="en-US" dirty="0">
                <a:solidFill>
                  <a:srgbClr val="92D050"/>
                </a:solidFill>
              </a:rPr>
              <a:t>RSA, Ed25519)                                                           │  </a:t>
            </a:r>
          </a:p>
          <a:p>
            <a:r>
              <a:rPr lang="en-US" dirty="0">
                <a:solidFill>
                  <a:srgbClr val="92D050"/>
                </a:solidFill>
              </a:rPr>
              <a:t>│    → </a:t>
            </a:r>
            <a:r>
              <a:rPr lang="ru-RU" dirty="0">
                <a:solidFill>
                  <a:srgbClr val="92D050"/>
                </a:solidFill>
              </a:rPr>
              <a:t>Обмен ключами, установление безопасного канала       </a:t>
            </a:r>
            <a:r>
              <a:rPr lang="en-US" dirty="0">
                <a:solidFill>
                  <a:srgbClr val="92D050"/>
                </a:solidFill>
              </a:rPr>
              <a:t>                              </a:t>
            </a:r>
            <a:r>
              <a:rPr lang="ru-RU" dirty="0">
                <a:solidFill>
                  <a:srgbClr val="92D050"/>
                </a:solidFill>
              </a:rPr>
              <a:t>        │  ├────────────────────────────────────────────────────────────────────┤  </a:t>
            </a:r>
            <a:endParaRPr lang="en-US" dirty="0">
              <a:solidFill>
                <a:srgbClr val="92D050"/>
              </a:solidFill>
            </a:endParaRPr>
          </a:p>
          <a:p>
            <a:r>
              <a:rPr lang="ru-RU" dirty="0">
                <a:solidFill>
                  <a:srgbClr val="92D050"/>
                </a:solidFill>
              </a:rPr>
              <a:t>│ 2. УРОВЕНЬ АУТЕНТИФИКАЦИИ                            </a:t>
            </a:r>
            <a:r>
              <a:rPr lang="en-US" dirty="0">
                <a:solidFill>
                  <a:srgbClr val="92D050"/>
                </a:solidFill>
              </a:rPr>
              <a:t>                                            	   </a:t>
            </a:r>
            <a:r>
              <a:rPr lang="ru-RU" dirty="0">
                <a:solidFill>
                  <a:srgbClr val="92D050"/>
                </a:solidFill>
              </a:rPr>
              <a:t>             │ </a:t>
            </a:r>
            <a:endParaRPr lang="en-US" dirty="0">
              <a:solidFill>
                <a:srgbClr val="92D050"/>
              </a:solidFill>
            </a:endParaRPr>
          </a:p>
          <a:p>
            <a:r>
              <a:rPr lang="ru-RU" dirty="0">
                <a:solidFill>
                  <a:srgbClr val="92D050"/>
                </a:solidFill>
              </a:rPr>
              <a:t> │    → Подтверждение подлинности клиента                  </a:t>
            </a:r>
            <a:r>
              <a:rPr lang="en-US" dirty="0">
                <a:solidFill>
                  <a:srgbClr val="92D050"/>
                </a:solidFill>
              </a:rPr>
              <a:t>                                             </a:t>
            </a:r>
            <a:r>
              <a:rPr lang="ru-RU" dirty="0">
                <a:solidFill>
                  <a:srgbClr val="92D050"/>
                </a:solidFill>
              </a:rPr>
              <a:t>           │ </a:t>
            </a:r>
            <a:endParaRPr lang="en-US" dirty="0">
              <a:solidFill>
                <a:srgbClr val="92D050"/>
              </a:solidFill>
            </a:endParaRPr>
          </a:p>
          <a:p>
            <a:r>
              <a:rPr lang="ru-RU" dirty="0">
                <a:solidFill>
                  <a:srgbClr val="92D050"/>
                </a:solidFill>
              </a:rPr>
              <a:t> │    → Пароль / Ключи / Агент                                     </a:t>
            </a:r>
            <a:r>
              <a:rPr lang="en-US" dirty="0">
                <a:solidFill>
                  <a:srgbClr val="92D050"/>
                </a:solidFill>
              </a:rPr>
              <a:t>                                                                     </a:t>
            </a:r>
            <a:r>
              <a:rPr lang="ru-RU" dirty="0">
                <a:solidFill>
                  <a:srgbClr val="92D050"/>
                </a:solidFill>
              </a:rPr>
              <a:t>   │  ├────────────────────────────────────────────────────────────────────┤</a:t>
            </a:r>
            <a:endParaRPr lang="en-US" dirty="0">
              <a:solidFill>
                <a:srgbClr val="92D050"/>
              </a:solidFill>
            </a:endParaRPr>
          </a:p>
          <a:p>
            <a:r>
              <a:rPr lang="ru-RU" dirty="0">
                <a:solidFill>
                  <a:srgbClr val="92D050"/>
                </a:solidFill>
              </a:rPr>
              <a:t>  │ 3. УРОВЕНЬ СОЕДИНЕНИЯ                           </a:t>
            </a:r>
            <a:r>
              <a:rPr lang="en-US" dirty="0">
                <a:solidFill>
                  <a:srgbClr val="92D050"/>
                </a:solidFill>
              </a:rPr>
              <a:t>                                                            </a:t>
            </a:r>
            <a:r>
              <a:rPr lang="ru-RU" dirty="0">
                <a:solidFill>
                  <a:srgbClr val="92D050"/>
                </a:solidFill>
              </a:rPr>
              <a:t>                   │ </a:t>
            </a:r>
            <a:endParaRPr lang="en-US" dirty="0">
              <a:solidFill>
                <a:srgbClr val="92D050"/>
              </a:solidFill>
            </a:endParaRPr>
          </a:p>
          <a:p>
            <a:r>
              <a:rPr lang="ru-RU" dirty="0">
                <a:solidFill>
                  <a:srgbClr val="92D050"/>
                </a:solidFill>
              </a:rPr>
              <a:t> │    → Симметричное шифрование (</a:t>
            </a:r>
            <a:r>
              <a:rPr lang="en-US" dirty="0">
                <a:solidFill>
                  <a:srgbClr val="92D050"/>
                </a:solidFill>
              </a:rPr>
              <a:t>AES-256, ChaCha20)                                                 │  </a:t>
            </a:r>
          </a:p>
          <a:p>
            <a:r>
              <a:rPr lang="en-US" dirty="0">
                <a:solidFill>
                  <a:srgbClr val="92D050"/>
                </a:solidFill>
              </a:rPr>
              <a:t>│    → </a:t>
            </a:r>
            <a:r>
              <a:rPr lang="ru-RU" dirty="0">
                <a:solidFill>
                  <a:srgbClr val="92D050"/>
                </a:solidFill>
              </a:rPr>
              <a:t>Передача данных, </a:t>
            </a:r>
            <a:r>
              <a:rPr lang="en-US" dirty="0">
                <a:solidFill>
                  <a:srgbClr val="92D050"/>
                </a:solidFill>
              </a:rPr>
              <a:t>shell, </a:t>
            </a:r>
            <a:r>
              <a:rPr lang="ru-RU" dirty="0">
                <a:solidFill>
                  <a:srgbClr val="92D050"/>
                </a:solidFill>
              </a:rPr>
              <a:t>туннели, файлы                   </a:t>
            </a:r>
            <a:r>
              <a:rPr lang="en-US" dirty="0">
                <a:solidFill>
                  <a:srgbClr val="92D050"/>
                </a:solidFill>
              </a:rPr>
              <a:t>                                               </a:t>
            </a:r>
            <a:r>
              <a:rPr lang="ru-RU" dirty="0">
                <a:solidFill>
                  <a:srgbClr val="92D050"/>
                </a:solidFill>
              </a:rPr>
              <a:t>     │  └────────────────────────────────────────────────────────────────────┘</a:t>
            </a:r>
            <a:endParaRPr lang="en-US" dirty="0">
              <a:solidFill>
                <a:srgbClr val="92D050"/>
              </a:solidFill>
            </a:endParaRPr>
          </a:p>
          <a:p>
            <a:r>
              <a:rPr lang="en-US" dirty="0">
                <a:solidFill>
                  <a:srgbClr val="92D050"/>
                </a:solidFill>
              </a:rPr>
              <a:t>&gt; </a:t>
            </a:r>
            <a:r>
              <a:rPr lang="ru-RU" dirty="0">
                <a:solidFill>
                  <a:srgbClr val="92D050"/>
                </a:solidFill>
              </a:rPr>
              <a:t>Итог: Полностью зашифрованный удаленный доступ к командной оболочке</a:t>
            </a:r>
            <a:endParaRPr lang="en-US" dirty="0">
              <a:solidFill>
                <a:srgbClr val="92D050"/>
              </a:solidFill>
            </a:endParaRPr>
          </a:p>
          <a:p>
            <a:r>
              <a:rPr lang="en-US" dirty="0" err="1">
                <a:solidFill>
                  <a:srgbClr val="92D050"/>
                </a:solidFill>
              </a:rPr>
              <a:t>user@presentation</a:t>
            </a:r>
            <a:r>
              <a:rPr lang="en-US" dirty="0">
                <a:solidFill>
                  <a:srgbClr val="92D050"/>
                </a:solidFill>
              </a:rPr>
              <a:t>:~$ _</a:t>
            </a:r>
            <a:endParaRPr lang="ru-RU" dirty="0">
              <a:solidFill>
                <a:srgbClr val="92D050"/>
              </a:solidFill>
            </a:endParaRPr>
          </a:p>
        </p:txBody>
      </p:sp>
      <p:pic>
        <p:nvPicPr>
          <p:cNvPr id="2051" name="Picture 3" descr="a man wearing a mask is typing on a keyboard in front of two computer monitors">
            <a:extLst>
              <a:ext uri="{FF2B5EF4-FFF2-40B4-BE49-F238E27FC236}">
                <a16:creationId xmlns:a16="http://schemas.microsoft.com/office/drawing/2014/main" id="{66CF56D6-E019-D494-D79A-B0686B340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0055" y="2164206"/>
            <a:ext cx="4531496" cy="2529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2953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BA4CD9-665E-7109-4002-24E60BBC2EB7}"/>
              </a:ext>
            </a:extLst>
          </p:cNvPr>
          <p:cNvSpPr txBox="1">
            <a:spLocks/>
          </p:cNvSpPr>
          <p:nvPr/>
        </p:nvSpPr>
        <p:spPr>
          <a:xfrm>
            <a:off x="81481" y="108642"/>
            <a:ext cx="1138926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2D050"/>
                </a:solidFill>
              </a:rPr>
              <a:t>$ ssh --usage --examples</a:t>
            </a:r>
            <a:endParaRPr lang="ru-RU" dirty="0">
              <a:solidFill>
                <a:srgbClr val="92D050"/>
              </a:solidFill>
            </a:endParaRPr>
          </a:p>
          <a:p>
            <a:r>
              <a:rPr lang="en-US" dirty="0">
                <a:solidFill>
                  <a:srgbClr val="92D050"/>
                </a:solidFill>
              </a:rPr>
              <a:t>SSH: </a:t>
            </a:r>
            <a:r>
              <a:rPr lang="ru-RU" dirty="0">
                <a:solidFill>
                  <a:srgbClr val="92D050"/>
                </a:solidFill>
              </a:rPr>
              <a:t>Базовые команды и сценарии ═════════════════════════════════════════════════════════════════════&gt; ПОДКЛЮЧЕНИЕ К СЕРВЕРУ  </a:t>
            </a:r>
          </a:p>
          <a:p>
            <a:r>
              <a:rPr lang="en-US" dirty="0">
                <a:solidFill>
                  <a:srgbClr val="92D050"/>
                </a:solidFill>
              </a:rPr>
              <a:t>	</a:t>
            </a:r>
            <a:r>
              <a:rPr lang="ru-RU" dirty="0">
                <a:solidFill>
                  <a:srgbClr val="92D050"/>
                </a:solidFill>
              </a:rPr>
              <a:t>$ </a:t>
            </a:r>
            <a:r>
              <a:rPr lang="en-US" dirty="0">
                <a:solidFill>
                  <a:srgbClr val="92D050"/>
                </a:solidFill>
              </a:rPr>
              <a:t>ssh user@192.168.1.10  </a:t>
            </a:r>
            <a:endParaRPr lang="ru-RU" dirty="0">
              <a:solidFill>
                <a:srgbClr val="92D050"/>
              </a:solidFill>
            </a:endParaRPr>
          </a:p>
          <a:p>
            <a:r>
              <a:rPr lang="en-US" dirty="0">
                <a:solidFill>
                  <a:srgbClr val="92D050"/>
                </a:solidFill>
              </a:rPr>
              <a:t>	$ ssh user@example.com -p 2222      # </a:t>
            </a:r>
            <a:r>
              <a:rPr lang="ru-RU" dirty="0">
                <a:solidFill>
                  <a:srgbClr val="92D050"/>
                </a:solidFill>
              </a:rPr>
              <a:t>указать порт, если не 22</a:t>
            </a:r>
          </a:p>
          <a:p>
            <a:r>
              <a:rPr lang="en-US" dirty="0">
                <a:solidFill>
                  <a:srgbClr val="92D050"/>
                </a:solidFill>
              </a:rPr>
              <a:t>&gt; </a:t>
            </a:r>
            <a:r>
              <a:rPr lang="ru-RU" dirty="0">
                <a:solidFill>
                  <a:srgbClr val="92D050"/>
                </a:solidFill>
              </a:rPr>
              <a:t>ГЕНЕРАЦИЯ КЛЮЧЕВ (чтобы не вводить пароль)  </a:t>
            </a:r>
          </a:p>
          <a:p>
            <a:r>
              <a:rPr lang="en-US" dirty="0">
                <a:solidFill>
                  <a:srgbClr val="92D050"/>
                </a:solidFill>
              </a:rPr>
              <a:t>	</a:t>
            </a:r>
            <a:r>
              <a:rPr lang="ru-RU" dirty="0">
                <a:solidFill>
                  <a:srgbClr val="92D050"/>
                </a:solidFill>
              </a:rPr>
              <a:t>$ </a:t>
            </a:r>
            <a:r>
              <a:rPr lang="en-US" dirty="0">
                <a:solidFill>
                  <a:srgbClr val="92D050"/>
                </a:solidFill>
              </a:rPr>
              <a:t>ssh-keygen -t ed25519 -C "email@example.com"   </a:t>
            </a:r>
            <a:endParaRPr lang="ru-RU" dirty="0">
              <a:solidFill>
                <a:srgbClr val="92D050"/>
              </a:solidFill>
            </a:endParaRPr>
          </a:p>
          <a:p>
            <a:r>
              <a:rPr lang="en-US" dirty="0">
                <a:solidFill>
                  <a:srgbClr val="92D050"/>
                </a:solidFill>
              </a:rPr>
              <a:t>→ </a:t>
            </a:r>
            <a:r>
              <a:rPr lang="ru-RU" dirty="0">
                <a:solidFill>
                  <a:srgbClr val="92D050"/>
                </a:solidFill>
              </a:rPr>
              <a:t>Создает пару ключей:   </a:t>
            </a:r>
            <a:endParaRPr lang="en-US" dirty="0">
              <a:solidFill>
                <a:srgbClr val="92D050"/>
              </a:solidFill>
            </a:endParaRPr>
          </a:p>
          <a:p>
            <a:r>
              <a:rPr lang="en-US" dirty="0">
                <a:solidFill>
                  <a:srgbClr val="92D050"/>
                </a:solidFill>
              </a:rPr>
              <a:t>	</a:t>
            </a:r>
            <a:r>
              <a:rPr lang="ru-RU" dirty="0">
                <a:solidFill>
                  <a:srgbClr val="92D050"/>
                </a:solidFill>
              </a:rPr>
              <a:t>• ~/.</a:t>
            </a:r>
            <a:r>
              <a:rPr lang="en-US" dirty="0">
                <a:solidFill>
                  <a:srgbClr val="92D050"/>
                </a:solidFill>
              </a:rPr>
              <a:t>ssh/id_ed25519      (</a:t>
            </a:r>
            <a:r>
              <a:rPr lang="ru-RU" dirty="0">
                <a:solidFill>
                  <a:srgbClr val="92D050"/>
                </a:solidFill>
              </a:rPr>
              <a:t>приватный — НИКОМУ не давать)    </a:t>
            </a:r>
            <a:endParaRPr lang="en-US" dirty="0">
              <a:solidFill>
                <a:srgbClr val="92D050"/>
              </a:solidFill>
            </a:endParaRPr>
          </a:p>
          <a:p>
            <a:r>
              <a:rPr lang="en-US" dirty="0">
                <a:solidFill>
                  <a:srgbClr val="92D050"/>
                </a:solidFill>
              </a:rPr>
              <a:t>	</a:t>
            </a:r>
            <a:r>
              <a:rPr lang="ru-RU" dirty="0">
                <a:solidFill>
                  <a:srgbClr val="92D050"/>
                </a:solidFill>
              </a:rPr>
              <a:t>• ~/.</a:t>
            </a:r>
            <a:r>
              <a:rPr lang="en-US" dirty="0">
                <a:solidFill>
                  <a:srgbClr val="92D050"/>
                </a:solidFill>
              </a:rPr>
              <a:t>ssh/id_ed25519.pub  (</a:t>
            </a:r>
            <a:r>
              <a:rPr lang="ru-RU" dirty="0">
                <a:solidFill>
                  <a:srgbClr val="92D050"/>
                </a:solidFill>
              </a:rPr>
              <a:t>публичный — можно на сервер)</a:t>
            </a:r>
            <a:endParaRPr lang="en-US" dirty="0">
              <a:solidFill>
                <a:srgbClr val="92D050"/>
              </a:solidFill>
            </a:endParaRPr>
          </a:p>
          <a:p>
            <a:r>
              <a:rPr lang="en-US" dirty="0">
                <a:solidFill>
                  <a:srgbClr val="92D050"/>
                </a:solidFill>
              </a:rPr>
              <a:t>&gt;</a:t>
            </a:r>
            <a:r>
              <a:rPr lang="ru-RU" dirty="0">
                <a:solidFill>
                  <a:srgbClr val="92D050"/>
                </a:solidFill>
              </a:rPr>
              <a:t>КОПИРОВАНИЕ ПУБЛИЧНОГО КЛЮЧА НА СЕРВЕР  </a:t>
            </a:r>
            <a:endParaRPr lang="en-US" dirty="0">
              <a:solidFill>
                <a:srgbClr val="92D050"/>
              </a:solidFill>
            </a:endParaRPr>
          </a:p>
          <a:p>
            <a:r>
              <a:rPr lang="en-US" dirty="0">
                <a:solidFill>
                  <a:srgbClr val="92D050"/>
                </a:solidFill>
              </a:rPr>
              <a:t>	</a:t>
            </a:r>
            <a:r>
              <a:rPr lang="ru-RU" dirty="0">
                <a:solidFill>
                  <a:srgbClr val="92D050"/>
                </a:solidFill>
              </a:rPr>
              <a:t>$ </a:t>
            </a:r>
            <a:r>
              <a:rPr lang="en-US" dirty="0">
                <a:solidFill>
                  <a:srgbClr val="92D050"/>
                </a:solidFill>
              </a:rPr>
              <a:t>ssh-copy-id user@192.168.1.10    </a:t>
            </a:r>
          </a:p>
          <a:p>
            <a:r>
              <a:rPr lang="en-US" dirty="0">
                <a:solidFill>
                  <a:srgbClr val="92D050"/>
                </a:solidFill>
              </a:rPr>
              <a:t>→ </a:t>
            </a:r>
            <a:r>
              <a:rPr lang="ru-RU" dirty="0">
                <a:solidFill>
                  <a:srgbClr val="92D050"/>
                </a:solidFill>
              </a:rPr>
              <a:t>После этого пароль при входе больше не спрашивает</a:t>
            </a:r>
            <a:endParaRPr lang="en-US" dirty="0">
              <a:solidFill>
                <a:srgbClr val="92D050"/>
              </a:solidFill>
            </a:endParaRPr>
          </a:p>
          <a:p>
            <a:r>
              <a:rPr lang="ru-RU" dirty="0">
                <a:solidFill>
                  <a:srgbClr val="92D050"/>
                </a:solidFill>
              </a:rPr>
              <a:t>&gt; КОПИРОВАНИЕ ФАЙЛОВ (</a:t>
            </a:r>
            <a:r>
              <a:rPr lang="en-US" dirty="0">
                <a:solidFill>
                  <a:srgbClr val="92D050"/>
                </a:solidFill>
              </a:rPr>
              <a:t>SCP)  </a:t>
            </a:r>
          </a:p>
          <a:p>
            <a:r>
              <a:rPr lang="en-US" dirty="0">
                <a:solidFill>
                  <a:srgbClr val="92D050"/>
                </a:solidFill>
              </a:rPr>
              <a:t>	$ </a:t>
            </a:r>
            <a:r>
              <a:rPr lang="en-US" dirty="0" err="1">
                <a:solidFill>
                  <a:srgbClr val="92D050"/>
                </a:solidFill>
              </a:rPr>
              <a:t>scp</a:t>
            </a:r>
            <a:r>
              <a:rPr lang="en-US" dirty="0">
                <a:solidFill>
                  <a:srgbClr val="92D050"/>
                </a:solidFill>
              </a:rPr>
              <a:t> file.txt user@192.168.1.10:/home/user/  </a:t>
            </a:r>
          </a:p>
          <a:p>
            <a:r>
              <a:rPr lang="en-US" dirty="0">
                <a:solidFill>
                  <a:srgbClr val="92D050"/>
                </a:solidFill>
              </a:rPr>
              <a:t>	$ </a:t>
            </a:r>
            <a:r>
              <a:rPr lang="en-US" dirty="0" err="1">
                <a:solidFill>
                  <a:srgbClr val="92D050"/>
                </a:solidFill>
              </a:rPr>
              <a:t>scp</a:t>
            </a:r>
            <a:r>
              <a:rPr lang="en-US" dirty="0">
                <a:solidFill>
                  <a:srgbClr val="92D050"/>
                </a:solidFill>
              </a:rPr>
              <a:t> -r folder/ user@192.168.1.10:/home/user/   # </a:t>
            </a:r>
            <a:r>
              <a:rPr lang="ru-RU" dirty="0">
                <a:solidFill>
                  <a:srgbClr val="92D050"/>
                </a:solidFill>
              </a:rPr>
              <a:t>рекурсивно (папки)</a:t>
            </a:r>
            <a:endParaRPr lang="en-US" dirty="0">
              <a:solidFill>
                <a:srgbClr val="92D050"/>
              </a:solidFill>
            </a:endParaRPr>
          </a:p>
          <a:p>
            <a:r>
              <a:rPr lang="ru-RU" dirty="0">
                <a:solidFill>
                  <a:srgbClr val="92D050"/>
                </a:solidFill>
              </a:rPr>
              <a:t>&gt; ЗАПУСК КОМАНДЫ БЕЗ ВХОДА В СЕССИЮ  </a:t>
            </a:r>
            <a:endParaRPr lang="en-US" dirty="0">
              <a:solidFill>
                <a:srgbClr val="92D050"/>
              </a:solidFill>
            </a:endParaRPr>
          </a:p>
          <a:p>
            <a:r>
              <a:rPr lang="en-US" dirty="0">
                <a:solidFill>
                  <a:srgbClr val="92D050"/>
                </a:solidFill>
              </a:rPr>
              <a:t>	</a:t>
            </a:r>
            <a:r>
              <a:rPr lang="ru-RU" dirty="0">
                <a:solidFill>
                  <a:srgbClr val="92D050"/>
                </a:solidFill>
              </a:rPr>
              <a:t>$ </a:t>
            </a:r>
            <a:r>
              <a:rPr lang="en-US" dirty="0">
                <a:solidFill>
                  <a:srgbClr val="92D050"/>
                </a:solidFill>
              </a:rPr>
              <a:t>ssh user@192.168.1.10 "ls -la /var/log"  </a:t>
            </a:r>
          </a:p>
          <a:p>
            <a:r>
              <a:rPr lang="en-US" dirty="0">
                <a:solidFill>
                  <a:srgbClr val="92D050"/>
                </a:solidFill>
              </a:rPr>
              <a:t>	$ ssh user@192.168.1.10 "systemctlrestartnginx“</a:t>
            </a:r>
          </a:p>
          <a:p>
            <a:r>
              <a:rPr lang="en-US" dirty="0">
                <a:solidFill>
                  <a:srgbClr val="92D050"/>
                </a:solidFill>
              </a:rPr>
              <a:t>═════════════════════════════════════════════════════════════════════</a:t>
            </a:r>
            <a:endParaRPr lang="ru-RU" dirty="0">
              <a:solidFill>
                <a:srgbClr val="92D050"/>
              </a:solidFill>
            </a:endParaRPr>
          </a:p>
        </p:txBody>
      </p:sp>
      <p:pic>
        <p:nvPicPr>
          <p:cNvPr id="3074" name="Picture 2" descr="Мемные расследования: история появления Хакермена">
            <a:extLst>
              <a:ext uri="{FF2B5EF4-FFF2-40B4-BE49-F238E27FC236}">
                <a16:creationId xmlns:a16="http://schemas.microsoft.com/office/drawing/2014/main" id="{216C846C-70FA-8212-9180-2BD15FD2F7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7215" y="1920076"/>
            <a:ext cx="4068401" cy="2286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4983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39028-1583-F1C7-AB6F-AD6228F9F03F}"/>
              </a:ext>
            </a:extLst>
          </p:cNvPr>
          <p:cNvSpPr txBox="1"/>
          <p:nvPr/>
        </p:nvSpPr>
        <p:spPr>
          <a:xfrm>
            <a:off x="-1" y="9054"/>
            <a:ext cx="1115386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2D050"/>
                </a:solidFill>
              </a:rPr>
              <a:t>$ ssh -- why -- short</a:t>
            </a:r>
            <a:r>
              <a:rPr lang="en-US" dirty="0">
                <a:solidFill>
                  <a:schemeClr val="bg1"/>
                </a:solidFill>
              </a:rPr>
              <a:t>-</a:t>
            </a:r>
            <a:r>
              <a:rPr lang="en-US" dirty="0">
                <a:solidFill>
                  <a:srgbClr val="92D050"/>
                </a:solidFill>
              </a:rPr>
              <a:t>════════════════════════════════════════════════════════════════ </a:t>
            </a:r>
            <a:endParaRPr lang="ru-RU" dirty="0">
              <a:solidFill>
                <a:srgbClr val="92D050"/>
              </a:solidFill>
            </a:endParaRPr>
          </a:p>
          <a:p>
            <a:endParaRPr lang="ru-RU" dirty="0">
              <a:solidFill>
                <a:srgbClr val="92D050"/>
              </a:solidFill>
            </a:endParaRPr>
          </a:p>
          <a:p>
            <a:endParaRPr lang="ru-RU" dirty="0">
              <a:solidFill>
                <a:srgbClr val="92D050"/>
              </a:solidFill>
            </a:endParaRPr>
          </a:p>
          <a:p>
            <a:r>
              <a:rPr lang="en-US" dirty="0">
                <a:solidFill>
                  <a:srgbClr val="92D050"/>
                </a:solidFill>
              </a:rPr>
              <a:t> SSH </a:t>
            </a:r>
            <a:r>
              <a:rPr lang="ru-RU" dirty="0">
                <a:solidFill>
                  <a:srgbClr val="92D050"/>
                </a:solidFill>
              </a:rPr>
              <a:t>НУЖЕН, ЕСЛИ ТЫ: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92D050"/>
                </a:solidFill>
              </a:rPr>
              <a:t>Хочешь управлять сервером из любой точки мира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92D050"/>
                </a:solidFill>
              </a:rPr>
              <a:t>Не хочешь, чтобы пароли перехватывали в </a:t>
            </a:r>
            <a:r>
              <a:rPr lang="en-US" dirty="0">
                <a:solidFill>
                  <a:srgbClr val="92D050"/>
                </a:solidFill>
              </a:rPr>
              <a:t>Wi-Fi </a:t>
            </a:r>
            <a:r>
              <a:rPr lang="ru-RU" dirty="0">
                <a:solidFill>
                  <a:srgbClr val="92D050"/>
                </a:solidFill>
              </a:rPr>
              <a:t>кафе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92D050"/>
                </a:solidFill>
              </a:rPr>
              <a:t>Работаешь с </a:t>
            </a:r>
            <a:r>
              <a:rPr lang="en-US" dirty="0">
                <a:solidFill>
                  <a:srgbClr val="92D050"/>
                </a:solidFill>
              </a:rPr>
              <a:t>Git (GitHub, GitLab)  </a:t>
            </a:r>
            <a:endParaRPr lang="ru-RU" dirty="0">
              <a:solidFill>
                <a:srgbClr val="92D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92D050"/>
                </a:solidFill>
              </a:rPr>
              <a:t>Делаешь деплой проектов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92D050"/>
                </a:solidFill>
              </a:rPr>
              <a:t>Хочешь безопасно передавать файлы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92D050"/>
                </a:solidFill>
              </a:rPr>
              <a:t>Используешь </a:t>
            </a:r>
            <a:r>
              <a:rPr lang="en-US" dirty="0">
                <a:solidFill>
                  <a:srgbClr val="92D050"/>
                </a:solidFill>
              </a:rPr>
              <a:t>Docker, Kubernetes, </a:t>
            </a:r>
            <a:r>
              <a:rPr lang="ru-RU" dirty="0">
                <a:solidFill>
                  <a:srgbClr val="92D050"/>
                </a:solidFill>
              </a:rPr>
              <a:t>облака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92D050"/>
                </a:solidFill>
              </a:rPr>
              <a:t>Ценишь время (</a:t>
            </a:r>
            <a:r>
              <a:rPr lang="en-US" dirty="0">
                <a:solidFill>
                  <a:srgbClr val="92D050"/>
                </a:solidFill>
              </a:rPr>
              <a:t>SSH </a:t>
            </a:r>
            <a:r>
              <a:rPr lang="ru-RU" dirty="0">
                <a:solidFill>
                  <a:srgbClr val="92D050"/>
                </a:solidFill>
              </a:rPr>
              <a:t>ключи вместо ввода пароля)</a:t>
            </a:r>
          </a:p>
          <a:p>
            <a:endParaRPr lang="ru-RU" dirty="0">
              <a:solidFill>
                <a:srgbClr val="92D050"/>
              </a:solidFill>
            </a:endParaRPr>
          </a:p>
          <a:p>
            <a:endParaRPr lang="ru-RU" dirty="0">
              <a:solidFill>
                <a:srgbClr val="92D050"/>
              </a:solidFill>
            </a:endParaRPr>
          </a:p>
          <a:p>
            <a:r>
              <a:rPr lang="ru-RU" dirty="0">
                <a:solidFill>
                  <a:srgbClr val="92D050"/>
                </a:solidFill>
              </a:rPr>
              <a:t>═══════════════════════════════════════════════════════════════════ КОРОЧЕ: </a:t>
            </a:r>
            <a:r>
              <a:rPr lang="en-US" dirty="0">
                <a:solidFill>
                  <a:srgbClr val="92D050"/>
                </a:solidFill>
              </a:rPr>
              <a:t>SSH — </a:t>
            </a:r>
            <a:r>
              <a:rPr lang="ru-RU" dirty="0">
                <a:solidFill>
                  <a:srgbClr val="92D050"/>
                </a:solidFill>
              </a:rPr>
              <a:t>это стандарт индустрии.  Без него не работают ни сервера, ни облака, ни </a:t>
            </a:r>
            <a:r>
              <a:rPr lang="en-US" dirty="0" err="1">
                <a:solidFill>
                  <a:srgbClr val="92D050"/>
                </a:solidFill>
              </a:rPr>
              <a:t>DevOps.user@presentation</a:t>
            </a:r>
            <a:r>
              <a:rPr lang="en-US" dirty="0">
                <a:solidFill>
                  <a:srgbClr val="92D050"/>
                </a:solidFill>
              </a:rPr>
              <a:t>:~$ _</a:t>
            </a:r>
            <a:endParaRPr lang="ru-RU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1058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5FE97A-CF90-DF73-A117-93C7AD991166}"/>
              </a:ext>
            </a:extLst>
          </p:cNvPr>
          <p:cNvSpPr txBox="1"/>
          <p:nvPr/>
        </p:nvSpPr>
        <p:spPr>
          <a:xfrm>
            <a:off x="0" y="0"/>
            <a:ext cx="1178761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2D050"/>
                </a:solidFill>
              </a:rPr>
              <a:t>$ ssh --keys </a:t>
            </a:r>
            <a:r>
              <a:rPr lang="ru-RU" dirty="0">
                <a:solidFill>
                  <a:srgbClr val="92D050"/>
                </a:solidFill>
              </a:rPr>
              <a:t>--</a:t>
            </a:r>
            <a:r>
              <a:rPr lang="en-US" dirty="0">
                <a:solidFill>
                  <a:srgbClr val="92D050"/>
                </a:solidFill>
              </a:rPr>
              <a:t>explain </a:t>
            </a:r>
            <a:endParaRPr lang="ru-RU" dirty="0">
              <a:solidFill>
                <a:srgbClr val="92D050"/>
              </a:solidFill>
            </a:endParaRPr>
          </a:p>
          <a:p>
            <a:r>
              <a:rPr lang="en-US" dirty="0">
                <a:solidFill>
                  <a:srgbClr val="92D050"/>
                </a:solidFill>
              </a:rPr>
              <a:t>═══════════════════════════════════════════════════════════  </a:t>
            </a:r>
          </a:p>
          <a:p>
            <a:r>
              <a:rPr lang="ru-RU" dirty="0">
                <a:solidFill>
                  <a:srgbClr val="92D050"/>
                </a:solidFill>
              </a:rPr>
              <a:t>ЧТО ТАКОЕ </a:t>
            </a:r>
            <a:r>
              <a:rPr lang="en-US" dirty="0">
                <a:solidFill>
                  <a:srgbClr val="92D050"/>
                </a:solidFill>
              </a:rPr>
              <a:t>SSH-</a:t>
            </a:r>
            <a:r>
              <a:rPr lang="ru-RU" dirty="0">
                <a:solidFill>
                  <a:srgbClr val="92D050"/>
                </a:solidFill>
              </a:rPr>
              <a:t>КЛЮЧИ?  </a:t>
            </a:r>
            <a:endParaRPr lang="en-US" dirty="0">
              <a:solidFill>
                <a:srgbClr val="92D050"/>
              </a:solidFill>
            </a:endParaRPr>
          </a:p>
          <a:p>
            <a:r>
              <a:rPr lang="ru-RU" dirty="0">
                <a:solidFill>
                  <a:srgbClr val="92D050"/>
                </a:solidFill>
              </a:rPr>
              <a:t>Это пара файлов:    </a:t>
            </a:r>
            <a:endParaRPr lang="en-US" dirty="0">
              <a:solidFill>
                <a:srgbClr val="92D050"/>
              </a:solidFill>
            </a:endParaRPr>
          </a:p>
          <a:p>
            <a:r>
              <a:rPr lang="ru-RU" dirty="0">
                <a:solidFill>
                  <a:srgbClr val="92D050"/>
                </a:solidFill>
              </a:rPr>
              <a:t>• </a:t>
            </a:r>
            <a:r>
              <a:rPr lang="en-US" dirty="0">
                <a:solidFill>
                  <a:srgbClr val="92D050"/>
                </a:solidFill>
              </a:rPr>
              <a:t>id_ed25519      — </a:t>
            </a:r>
            <a:r>
              <a:rPr lang="ru-RU" dirty="0">
                <a:solidFill>
                  <a:srgbClr val="92D050"/>
                </a:solidFill>
              </a:rPr>
              <a:t>ПРИВАТНЫЙ (секретный, НИКОМУ)    </a:t>
            </a:r>
            <a:endParaRPr lang="en-US" dirty="0">
              <a:solidFill>
                <a:srgbClr val="92D050"/>
              </a:solidFill>
            </a:endParaRPr>
          </a:p>
          <a:p>
            <a:r>
              <a:rPr lang="ru-RU" dirty="0">
                <a:solidFill>
                  <a:srgbClr val="92D050"/>
                </a:solidFill>
              </a:rPr>
              <a:t>• </a:t>
            </a:r>
            <a:r>
              <a:rPr lang="en-US" dirty="0">
                <a:solidFill>
                  <a:srgbClr val="92D050"/>
                </a:solidFill>
              </a:rPr>
              <a:t>id_ed25519.pub  — </a:t>
            </a:r>
            <a:r>
              <a:rPr lang="ru-RU" dirty="0">
                <a:solidFill>
                  <a:srgbClr val="92D050"/>
                </a:solidFill>
              </a:rPr>
              <a:t>ПУБЛИЧНЫЙ (можно раздавать) </a:t>
            </a:r>
            <a:endParaRPr lang="en-US" dirty="0">
              <a:solidFill>
                <a:srgbClr val="92D050"/>
              </a:solidFill>
            </a:endParaRPr>
          </a:p>
          <a:p>
            <a:r>
              <a:rPr lang="ru-RU" dirty="0">
                <a:solidFill>
                  <a:srgbClr val="92D050"/>
                </a:solidFill>
              </a:rPr>
              <a:t>Приватный </a:t>
            </a:r>
            <a:r>
              <a:rPr lang="en-US" dirty="0">
                <a:solidFill>
                  <a:srgbClr val="92D050"/>
                </a:solidFill>
              </a:rPr>
              <a:t>— </a:t>
            </a:r>
            <a:r>
              <a:rPr lang="ru-RU" dirty="0">
                <a:solidFill>
                  <a:srgbClr val="92D050"/>
                </a:solidFill>
              </a:rPr>
              <a:t>личный. Публичный кладешь на сервер.  </a:t>
            </a:r>
            <a:endParaRPr lang="en-US" dirty="0">
              <a:solidFill>
                <a:srgbClr val="92D050"/>
              </a:solidFill>
            </a:endParaRPr>
          </a:p>
          <a:p>
            <a:r>
              <a:rPr lang="ru-RU" dirty="0">
                <a:solidFill>
                  <a:srgbClr val="92D050"/>
                </a:solidFill>
              </a:rPr>
              <a:t>Сервер узнает тебя по этой паре.</a:t>
            </a:r>
            <a:endParaRPr lang="en-US" dirty="0">
              <a:solidFill>
                <a:srgbClr val="92D050"/>
              </a:solidFill>
            </a:endParaRPr>
          </a:p>
          <a:p>
            <a:r>
              <a:rPr lang="ru-RU" dirty="0">
                <a:solidFill>
                  <a:srgbClr val="92D050"/>
                </a:solidFill>
              </a:rPr>
              <a:t>═══════════════════════════════════════════════════════════  </a:t>
            </a:r>
            <a:endParaRPr lang="en-US" dirty="0">
              <a:solidFill>
                <a:srgbClr val="92D050"/>
              </a:solidFill>
            </a:endParaRPr>
          </a:p>
          <a:p>
            <a:r>
              <a:rPr lang="ru-RU" dirty="0">
                <a:solidFill>
                  <a:srgbClr val="92D050"/>
                </a:solidFill>
              </a:rPr>
              <a:t>ПОЧЕМУ ЭТО УДОБНО?  </a:t>
            </a:r>
            <a:endParaRPr lang="en-US" dirty="0">
              <a:solidFill>
                <a:srgbClr val="92D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92D050"/>
                </a:solidFill>
              </a:rPr>
              <a:t>Не нужно вводить пароль  </a:t>
            </a:r>
            <a:endParaRPr lang="en-US" dirty="0">
              <a:solidFill>
                <a:srgbClr val="92D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92D050"/>
                </a:solidFill>
              </a:rPr>
              <a:t>Нельзя подобрать (в отличие от пароля)  </a:t>
            </a:r>
            <a:endParaRPr lang="en-US" dirty="0">
              <a:solidFill>
                <a:srgbClr val="92D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92D050"/>
                </a:solidFill>
              </a:rPr>
              <a:t>Не передается по сети (только подпись)  </a:t>
            </a:r>
            <a:endParaRPr lang="en-US" dirty="0">
              <a:solidFill>
                <a:srgbClr val="92D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92D050"/>
                </a:solidFill>
              </a:rPr>
              <a:t>Один ключ = доступ ко всем серверам</a:t>
            </a:r>
            <a:endParaRPr lang="en-US" dirty="0">
              <a:solidFill>
                <a:srgbClr val="92D050"/>
              </a:solidFill>
            </a:endParaRPr>
          </a:p>
          <a:p>
            <a:r>
              <a:rPr lang="ru-RU" dirty="0">
                <a:solidFill>
                  <a:srgbClr val="92D050"/>
                </a:solidFill>
              </a:rPr>
              <a:t>═══════════════════════════════════════════════════════════ </a:t>
            </a:r>
            <a:endParaRPr lang="en-US" dirty="0">
              <a:solidFill>
                <a:srgbClr val="92D050"/>
              </a:solidFill>
            </a:endParaRPr>
          </a:p>
          <a:p>
            <a:r>
              <a:rPr lang="ru-RU" dirty="0">
                <a:solidFill>
                  <a:srgbClr val="92D050"/>
                </a:solidFill>
              </a:rPr>
              <a:t>ГДЕ ПРИГОДИТСЯ ОБЫЧНОМУ ЧЕЛОВЕКУ?  </a:t>
            </a:r>
            <a:endParaRPr lang="en-US" dirty="0">
              <a:solidFill>
                <a:srgbClr val="92D050"/>
              </a:solidFill>
            </a:endParaRPr>
          </a:p>
          <a:p>
            <a:r>
              <a:rPr lang="ru-RU" dirty="0">
                <a:solidFill>
                  <a:srgbClr val="92D050"/>
                </a:solidFill>
              </a:rPr>
              <a:t>→ </a:t>
            </a:r>
            <a:r>
              <a:rPr lang="en-US" dirty="0">
                <a:solidFill>
                  <a:srgbClr val="92D050"/>
                </a:solidFill>
              </a:rPr>
              <a:t>GitHub — </a:t>
            </a:r>
            <a:r>
              <a:rPr lang="ru-RU" dirty="0">
                <a:solidFill>
                  <a:srgbClr val="92D050"/>
                </a:solidFill>
              </a:rPr>
              <a:t>заливать код без пароля  </a:t>
            </a:r>
            <a:endParaRPr lang="en-US" dirty="0">
              <a:solidFill>
                <a:srgbClr val="92D050"/>
              </a:solidFill>
            </a:endParaRPr>
          </a:p>
          <a:p>
            <a:r>
              <a:rPr lang="ru-RU" dirty="0">
                <a:solidFill>
                  <a:srgbClr val="92D050"/>
                </a:solidFill>
              </a:rPr>
              <a:t>→ Серверы — заходить в один клик  </a:t>
            </a:r>
            <a:endParaRPr lang="en-US" dirty="0">
              <a:solidFill>
                <a:srgbClr val="92D050"/>
              </a:solidFill>
            </a:endParaRPr>
          </a:p>
          <a:p>
            <a:r>
              <a:rPr lang="ru-RU" dirty="0">
                <a:solidFill>
                  <a:srgbClr val="92D050"/>
                </a:solidFill>
              </a:rPr>
              <a:t>→ Облака — управление </a:t>
            </a:r>
            <a:r>
              <a:rPr lang="ru-RU" dirty="0" err="1">
                <a:solidFill>
                  <a:srgbClr val="92D050"/>
                </a:solidFill>
              </a:rPr>
              <a:t>виртуалками</a:t>
            </a:r>
            <a:endParaRPr lang="en-US" dirty="0">
              <a:solidFill>
                <a:srgbClr val="92D050"/>
              </a:solidFill>
            </a:endParaRPr>
          </a:p>
          <a:p>
            <a:r>
              <a:rPr lang="ru-RU" dirty="0">
                <a:solidFill>
                  <a:srgbClr val="92D050"/>
                </a:solidFill>
              </a:rPr>
              <a:t>═══════════════════════════════════════════════════════════  </a:t>
            </a:r>
            <a:endParaRPr lang="en-US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7244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6545E5-D505-6245-E9E1-82F53EAD0EF6}"/>
              </a:ext>
            </a:extLst>
          </p:cNvPr>
          <p:cNvSpPr txBox="1"/>
          <p:nvPr/>
        </p:nvSpPr>
        <p:spPr>
          <a:xfrm>
            <a:off x="117695" y="90535"/>
            <a:ext cx="1152506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2D050"/>
                </a:solidFill>
              </a:rPr>
              <a:t>$ ssh </a:t>
            </a:r>
            <a:r>
              <a:rPr lang="ru-RU" dirty="0">
                <a:solidFill>
                  <a:srgbClr val="92D050"/>
                </a:solidFill>
              </a:rPr>
              <a:t>--</a:t>
            </a:r>
            <a:r>
              <a:rPr lang="en-US" dirty="0">
                <a:solidFill>
                  <a:srgbClr val="92D050"/>
                </a:solidFill>
              </a:rPr>
              <a:t>conclusion</a:t>
            </a:r>
            <a:endParaRPr lang="ru-RU" dirty="0">
              <a:solidFill>
                <a:srgbClr val="92D050"/>
              </a:solidFill>
            </a:endParaRPr>
          </a:p>
          <a:p>
            <a:r>
              <a:rPr lang="en-US" dirty="0">
                <a:solidFill>
                  <a:srgbClr val="92D050"/>
                </a:solidFill>
              </a:rPr>
              <a:t>══════════════════════════════════════════════════════════════  </a:t>
            </a:r>
            <a:endParaRPr lang="ru-RU" dirty="0">
              <a:solidFill>
                <a:srgbClr val="92D050"/>
              </a:solidFill>
            </a:endParaRPr>
          </a:p>
          <a:p>
            <a:r>
              <a:rPr lang="ru-RU" dirty="0">
                <a:solidFill>
                  <a:srgbClr val="92D050"/>
                </a:solidFill>
              </a:rPr>
              <a:t>	</a:t>
            </a:r>
            <a:r>
              <a:rPr lang="en-US" dirty="0">
                <a:solidFill>
                  <a:srgbClr val="92D050"/>
                </a:solidFill>
              </a:rPr>
              <a:t>SSH — </a:t>
            </a:r>
            <a:r>
              <a:rPr lang="ru-RU" dirty="0">
                <a:solidFill>
                  <a:srgbClr val="92D050"/>
                </a:solidFill>
              </a:rPr>
              <a:t>ЭТО: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92D050"/>
                </a:solidFill>
              </a:rPr>
              <a:t>Безопасность 	            → </a:t>
            </a:r>
            <a:r>
              <a:rPr lang="en-US" dirty="0">
                <a:solidFill>
                  <a:srgbClr val="92D050"/>
                </a:solidFill>
              </a:rPr>
              <a:t>	</a:t>
            </a:r>
            <a:r>
              <a:rPr lang="ru-RU" dirty="0">
                <a:solidFill>
                  <a:srgbClr val="92D050"/>
                </a:solidFill>
              </a:rPr>
              <a:t>всё шифруется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92D050"/>
                </a:solidFill>
              </a:rPr>
              <a:t>Удобство        	  	  → </a:t>
            </a:r>
            <a:r>
              <a:rPr lang="en-US" dirty="0">
                <a:solidFill>
                  <a:srgbClr val="92D050"/>
                </a:solidFill>
              </a:rPr>
              <a:t>	</a:t>
            </a:r>
            <a:r>
              <a:rPr lang="ru-RU" dirty="0">
                <a:solidFill>
                  <a:srgbClr val="92D050"/>
                </a:solidFill>
              </a:rPr>
              <a:t>ключи вместо паролей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92D050"/>
                </a:solidFill>
              </a:rPr>
              <a:t>Доступность     		  → </a:t>
            </a:r>
            <a:r>
              <a:rPr lang="en-US" dirty="0">
                <a:solidFill>
                  <a:srgbClr val="92D050"/>
                </a:solidFill>
              </a:rPr>
              <a:t>	</a:t>
            </a:r>
            <a:r>
              <a:rPr lang="ru-RU" dirty="0">
                <a:solidFill>
                  <a:srgbClr val="92D050"/>
                </a:solidFill>
              </a:rPr>
              <a:t>работает везде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92D050"/>
                </a:solidFill>
              </a:rPr>
              <a:t>Функциональность   → </a:t>
            </a:r>
            <a:r>
              <a:rPr lang="en-US" dirty="0">
                <a:solidFill>
                  <a:srgbClr val="92D050"/>
                </a:solidFill>
              </a:rPr>
              <a:t>	</a:t>
            </a:r>
            <a:r>
              <a:rPr lang="ru-RU" dirty="0">
                <a:solidFill>
                  <a:srgbClr val="92D050"/>
                </a:solidFill>
              </a:rPr>
              <a:t>туннели, файлы, </a:t>
            </a:r>
            <a:r>
              <a:rPr lang="en-US" dirty="0">
                <a:solidFill>
                  <a:srgbClr val="92D050"/>
                </a:solidFill>
              </a:rPr>
              <a:t>shell</a:t>
            </a:r>
            <a:endParaRPr lang="ru-RU" dirty="0">
              <a:solidFill>
                <a:srgbClr val="92D050"/>
              </a:solidFill>
            </a:endParaRPr>
          </a:p>
          <a:p>
            <a:r>
              <a:rPr lang="en-US" dirty="0">
                <a:solidFill>
                  <a:srgbClr val="92D050"/>
                </a:solidFill>
              </a:rPr>
              <a:t>───────────────────────────────────────────────────────────────────────  </a:t>
            </a:r>
            <a:endParaRPr lang="ru-RU" dirty="0">
              <a:solidFill>
                <a:srgbClr val="92D050"/>
              </a:solidFill>
            </a:endParaRPr>
          </a:p>
          <a:p>
            <a:r>
              <a:rPr lang="ru-RU" dirty="0">
                <a:solidFill>
                  <a:srgbClr val="92D050"/>
                </a:solidFill>
              </a:rPr>
              <a:t>	ГЛАВНЫЙ ВЫВОД:    </a:t>
            </a:r>
          </a:p>
          <a:p>
            <a:r>
              <a:rPr lang="ru-RU" dirty="0">
                <a:solidFill>
                  <a:srgbClr val="92D050"/>
                </a:solidFill>
              </a:rPr>
              <a:t>		</a:t>
            </a:r>
            <a:r>
              <a:rPr lang="en-US" dirty="0">
                <a:solidFill>
                  <a:srgbClr val="92D050"/>
                </a:solidFill>
              </a:rPr>
              <a:t>SSH-</a:t>
            </a:r>
            <a:r>
              <a:rPr lang="ru-RU" dirty="0">
                <a:solidFill>
                  <a:srgbClr val="92D050"/>
                </a:solidFill>
              </a:rPr>
              <a:t>ключи превращают сложное в простое.   </a:t>
            </a:r>
          </a:p>
          <a:p>
            <a:r>
              <a:rPr lang="ru-RU" dirty="0">
                <a:solidFill>
                  <a:srgbClr val="92D050"/>
                </a:solidFill>
              </a:rPr>
              <a:t> 		Один раз настроил — пользуешься годами.</a:t>
            </a:r>
          </a:p>
          <a:p>
            <a:r>
              <a:rPr lang="ru-RU" dirty="0">
                <a:solidFill>
                  <a:srgbClr val="92D050"/>
                </a:solidFill>
              </a:rPr>
              <a:t>─────────────────────────────────────────────────────────────────────  </a:t>
            </a:r>
          </a:p>
          <a:p>
            <a:endParaRPr lang="ru-RU" dirty="0">
              <a:solidFill>
                <a:srgbClr val="92D050"/>
              </a:solidFill>
            </a:endParaRPr>
          </a:p>
          <a:p>
            <a:r>
              <a:rPr lang="en-US" dirty="0">
                <a:solidFill>
                  <a:srgbClr val="92D050"/>
                </a:solidFill>
              </a:rPr>
              <a:t>	$ ssh –disconnect</a:t>
            </a:r>
          </a:p>
          <a:p>
            <a:r>
              <a:rPr lang="en-US" dirty="0">
                <a:solidFill>
                  <a:srgbClr val="92D050"/>
                </a:solidFill>
              </a:rPr>
              <a:t>	</a:t>
            </a:r>
          </a:p>
          <a:p>
            <a:r>
              <a:rPr lang="en-US" dirty="0">
                <a:solidFill>
                  <a:srgbClr val="92D050"/>
                </a:solidFill>
              </a:rPr>
              <a:t>	</a:t>
            </a:r>
            <a:r>
              <a:rPr lang="ru-RU" dirty="0">
                <a:solidFill>
                  <a:srgbClr val="92D050"/>
                </a:solidFill>
              </a:rPr>
              <a:t>Соединение завершено.</a:t>
            </a:r>
          </a:p>
          <a:p>
            <a:r>
              <a:rPr lang="ru-RU" dirty="0">
                <a:solidFill>
                  <a:srgbClr val="92D050"/>
                </a:solidFill>
              </a:rPr>
              <a:t>	Спасибо за внимание</a:t>
            </a:r>
          </a:p>
          <a:p>
            <a:endParaRPr lang="ru-RU" dirty="0">
              <a:solidFill>
                <a:srgbClr val="92D050"/>
              </a:solidFill>
            </a:endParaRPr>
          </a:p>
          <a:p>
            <a:r>
              <a:rPr lang="ru-RU" dirty="0">
                <a:solidFill>
                  <a:srgbClr val="92D050"/>
                </a:solidFill>
              </a:rPr>
              <a:t>	</a:t>
            </a:r>
            <a:r>
              <a:rPr lang="en-US" dirty="0" err="1">
                <a:solidFill>
                  <a:srgbClr val="92D050"/>
                </a:solidFill>
              </a:rPr>
              <a:t>user@resentation</a:t>
            </a:r>
            <a:r>
              <a:rPr lang="en-US" dirty="0">
                <a:solidFill>
                  <a:srgbClr val="92D050"/>
                </a:solidFill>
              </a:rPr>
              <a:t>:~$ logout</a:t>
            </a:r>
          </a:p>
          <a:p>
            <a:r>
              <a:rPr lang="en-US" dirty="0">
                <a:solidFill>
                  <a:srgbClr val="92D050"/>
                </a:solidFill>
              </a:rPr>
              <a:t>════════════════════════════════════════════════════════════════</a:t>
            </a:r>
            <a:endParaRPr lang="ru-RU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1976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Тема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</TotalTime>
  <Words>700</Words>
  <Application>Microsoft Office PowerPoint</Application>
  <PresentationFormat>Широкоэкранный</PresentationFormat>
  <Paragraphs>104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Arial Unicode MS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yaotai _</dc:creator>
  <cp:lastModifiedBy>yaotai _</cp:lastModifiedBy>
  <cp:revision>4</cp:revision>
  <dcterms:created xsi:type="dcterms:W3CDTF">2026-03-24T12:22:43Z</dcterms:created>
  <dcterms:modified xsi:type="dcterms:W3CDTF">2026-03-24T13:27:41Z</dcterms:modified>
</cp:coreProperties>
</file>