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99119C-2168-485D-BCA5-5DA8A42AC8AD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1B7756-37FE-499A-A0DB-253FBE4DD9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963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4CF18-2537-4019-856A-50C77322823A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13692-1798-4A22-9886-851E73889C22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9534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4CF18-2537-4019-856A-50C77322823A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13692-1798-4A22-9886-851E73889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7469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4CF18-2537-4019-856A-50C77322823A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13692-1798-4A22-9886-851E73889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2223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4CF18-2537-4019-856A-50C77322823A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13692-1798-4A22-9886-851E73889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3605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4CF18-2537-4019-856A-50C77322823A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13692-1798-4A22-9886-851E73889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2637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4CF18-2537-4019-856A-50C77322823A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13692-1798-4A22-9886-851E73889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4891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4CF18-2537-4019-856A-50C77322823A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13692-1798-4A22-9886-851E73889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622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4CF18-2537-4019-856A-50C77322823A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13692-1798-4A22-9886-851E73889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13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4CF18-2537-4019-856A-50C77322823A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13692-1798-4A22-9886-851E73889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6653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4CF18-2537-4019-856A-50C77322823A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13692-1798-4A22-9886-851E73889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4024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4CF18-2537-4019-856A-50C77322823A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13692-1798-4A22-9886-851E73889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09787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4CF18-2537-4019-856A-50C77322823A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13692-1798-4A22-9886-851E73889C22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964294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4CF18-2537-4019-856A-50C77322823A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13692-1798-4A22-9886-851E73889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19967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4CF18-2537-4019-856A-50C77322823A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13692-1798-4A22-9886-851E73889C22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55900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4CF18-2537-4019-856A-50C77322823A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13692-1798-4A22-9886-851E73889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2235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4CF18-2537-4019-856A-50C77322823A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13692-1798-4A22-9886-851E73889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37653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4CF18-2537-4019-856A-50C77322823A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13692-1798-4A22-9886-851E73889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6298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874CF18-2537-4019-856A-50C77322823A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CF13692-1798-4A22-9886-851E73889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39017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E9B63E-D3EB-F20B-E252-824BFCDDB5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Базовые протоколы сети Интернет: IP, MAC, DNS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68DEC35-134E-90E3-A6C9-64BD5F1EEC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Студент 2 курса</a:t>
            </a:r>
          </a:p>
          <a:p>
            <a:r>
              <a:rPr lang="ru-RU" dirty="0">
                <a:solidFill>
                  <a:schemeClr val="tx1"/>
                </a:solidFill>
              </a:rPr>
              <a:t>Пасько В.Д.</a:t>
            </a:r>
          </a:p>
          <a:p>
            <a:r>
              <a:rPr lang="ru-RU" dirty="0">
                <a:solidFill>
                  <a:schemeClr val="tx1"/>
                </a:solidFill>
              </a:rPr>
              <a:t>28ПРд4410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6538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0A2E1C99-6BC8-A944-1388-305A30615F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8914569"/>
              </p:ext>
            </p:extLst>
          </p:nvPr>
        </p:nvGraphicFramePr>
        <p:xfrm>
          <a:off x="250478" y="655031"/>
          <a:ext cx="6876507" cy="55756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9155">
                  <a:extLst>
                    <a:ext uri="{9D8B030D-6E8A-4147-A177-3AD203B41FA5}">
                      <a16:colId xmlns:a16="http://schemas.microsoft.com/office/drawing/2014/main" val="1732613793"/>
                    </a:ext>
                  </a:extLst>
                </a:gridCol>
                <a:gridCol w="2912014">
                  <a:extLst>
                    <a:ext uri="{9D8B030D-6E8A-4147-A177-3AD203B41FA5}">
                      <a16:colId xmlns:a16="http://schemas.microsoft.com/office/drawing/2014/main" val="2307809110"/>
                    </a:ext>
                  </a:extLst>
                </a:gridCol>
                <a:gridCol w="3105338">
                  <a:extLst>
                    <a:ext uri="{9D8B030D-6E8A-4147-A177-3AD203B41FA5}">
                      <a16:colId xmlns:a16="http://schemas.microsoft.com/office/drawing/2014/main" val="18742596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/>
                        <a:t>Уровень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/>
                        <a:t>Название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/>
                        <a:t>Функция</a:t>
                      </a:r>
                      <a:endParaRPr lang="ru-RU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1636365"/>
                  </a:ext>
                </a:extLst>
              </a:tr>
              <a:tr h="748619">
                <a:tc>
                  <a:txBody>
                    <a:bodyPr/>
                    <a:lstStyle/>
                    <a:p>
                      <a:pPr algn="ctr"/>
                      <a:r>
                        <a:rPr lang="ru-RU" sz="1400" b="0"/>
                        <a:t>7</a:t>
                      </a:r>
                      <a:endParaRPr lang="ru-RU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/>
                        <a:t>Прикладной (</a:t>
                      </a:r>
                      <a:r>
                        <a:rPr lang="en-US" sz="1400" b="0" dirty="0"/>
                        <a:t>Application)</a:t>
                      </a:r>
                      <a:endParaRPr lang="ru-RU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Взаимодействие сети и пользователя</a:t>
                      </a:r>
                      <a:endParaRPr lang="ru-RU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397197"/>
                  </a:ext>
                </a:extLst>
              </a:tr>
              <a:tr h="748619">
                <a:tc>
                  <a:txBody>
                    <a:bodyPr/>
                    <a:lstStyle/>
                    <a:p>
                      <a:pPr algn="ctr"/>
                      <a:r>
                        <a:rPr lang="ru-RU" sz="1400" b="0"/>
                        <a:t>6</a:t>
                      </a:r>
                      <a:endParaRPr lang="ru-RU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/>
                        <a:t>Представления (</a:t>
                      </a:r>
                      <a:r>
                        <a:rPr lang="en-US" sz="1400" b="0" dirty="0"/>
                        <a:t>Presentation)</a:t>
                      </a:r>
                      <a:endParaRPr lang="ru-RU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Преобразование форматов данных, кодирование</a:t>
                      </a:r>
                      <a:endParaRPr lang="ru-RU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670549"/>
                  </a:ext>
                </a:extLst>
              </a:tr>
              <a:tr h="748619">
                <a:tc>
                  <a:txBody>
                    <a:bodyPr/>
                    <a:lstStyle/>
                    <a:p>
                      <a:pPr algn="ctr"/>
                      <a:r>
                        <a:rPr lang="ru-RU" sz="1400" b="0"/>
                        <a:t>5</a:t>
                      </a:r>
                      <a:endParaRPr lang="ru-RU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/>
                        <a:t>Сеансовый (</a:t>
                      </a:r>
                      <a:r>
                        <a:rPr lang="en-US" sz="1400" b="0"/>
                        <a:t>Session)</a:t>
                      </a:r>
                      <a:endParaRPr lang="ru-RU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Управление сеансом связи</a:t>
                      </a:r>
                      <a:endParaRPr lang="ru-RU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426493"/>
                  </a:ext>
                </a:extLst>
              </a:tr>
              <a:tr h="748619">
                <a:tc>
                  <a:txBody>
                    <a:bodyPr/>
                    <a:lstStyle/>
                    <a:p>
                      <a:pPr algn="ctr"/>
                      <a:r>
                        <a:rPr lang="ru-RU" sz="1400" b="0"/>
                        <a:t>4</a:t>
                      </a:r>
                      <a:endParaRPr lang="ru-RU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/>
                        <a:t>Транспортный (</a:t>
                      </a:r>
                      <a:r>
                        <a:rPr lang="en-US" sz="1400" b="0"/>
                        <a:t>Transport)</a:t>
                      </a:r>
                      <a:endParaRPr lang="ru-RU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Надежная доставка данных</a:t>
                      </a:r>
                      <a:endParaRPr lang="ru-RU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5049875"/>
                  </a:ext>
                </a:extLst>
              </a:tr>
              <a:tr h="748619">
                <a:tc>
                  <a:txBody>
                    <a:bodyPr/>
                    <a:lstStyle/>
                    <a:p>
                      <a:pPr algn="ctr"/>
                      <a:r>
                        <a:rPr lang="ru-RU" sz="1400" b="0"/>
                        <a:t>3</a:t>
                      </a:r>
                      <a:endParaRPr lang="ru-RU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/>
                        <a:t>Сетевой (</a:t>
                      </a:r>
                      <a:r>
                        <a:rPr lang="en-US" sz="1400" b="0"/>
                        <a:t>Network)</a:t>
                      </a:r>
                      <a:endParaRPr lang="ru-RU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/>
                        <a:t>Адресация (</a:t>
                      </a:r>
                      <a:r>
                        <a:rPr lang="en-US" sz="1400" b="0" dirty="0"/>
                        <a:t>IP), </a:t>
                      </a:r>
                      <a:r>
                        <a:rPr lang="ru-RU" sz="1400" b="0" dirty="0"/>
                        <a:t>маршрутизация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3709278"/>
                  </a:ext>
                </a:extLst>
              </a:tr>
              <a:tr h="748619">
                <a:tc>
                  <a:txBody>
                    <a:bodyPr/>
                    <a:lstStyle/>
                    <a:p>
                      <a:pPr algn="ctr"/>
                      <a:r>
                        <a:rPr lang="ru-RU" sz="1400" b="0"/>
                        <a:t>2</a:t>
                      </a:r>
                      <a:endParaRPr lang="ru-RU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/>
                        <a:t>Канальный (</a:t>
                      </a:r>
                      <a:r>
                        <a:rPr lang="en-US" sz="1400" b="0"/>
                        <a:t>Data Link)</a:t>
                      </a:r>
                      <a:endParaRPr lang="ru-RU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/>
                        <a:t>Адресация (MAC), доступ к среде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870450"/>
                  </a:ext>
                </a:extLst>
              </a:tr>
              <a:tr h="748619">
                <a:tc>
                  <a:txBody>
                    <a:bodyPr/>
                    <a:lstStyle/>
                    <a:p>
                      <a:pPr algn="ctr"/>
                      <a:r>
                        <a:rPr lang="ru-RU" sz="1400" b="0"/>
                        <a:t>1</a:t>
                      </a:r>
                      <a:endParaRPr lang="ru-RU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Физический (</a:t>
                      </a:r>
                      <a:r>
                        <a:rPr lang="en-US" sz="1400"/>
                        <a:t>Physical)</a:t>
                      </a:r>
                      <a:endParaRPr lang="ru-RU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Передача битов по среде</a:t>
                      </a:r>
                      <a:endParaRPr lang="ru-RU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266586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71FCD08-E493-91CF-778F-6E72A4B58C47}"/>
              </a:ext>
            </a:extLst>
          </p:cNvPr>
          <p:cNvSpPr txBox="1"/>
          <p:nvPr/>
        </p:nvSpPr>
        <p:spPr>
          <a:xfrm>
            <a:off x="250478" y="325925"/>
            <a:ext cx="6829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7 уровней взаимодействия открытых систем</a:t>
            </a: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9C405E13-E820-CB15-EF7A-C7B123E5A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F639CD-429B-6E98-A71F-CD905B451140}"/>
              </a:ext>
            </a:extLst>
          </p:cNvPr>
          <p:cNvSpPr txBox="1"/>
          <p:nvPr/>
        </p:nvSpPr>
        <p:spPr>
          <a:xfrm>
            <a:off x="7197505" y="2474778"/>
            <a:ext cx="48436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+mn-lt"/>
              </a:rPr>
              <a:t>Рассматриваемые протоколы относятся к уровням: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MA</a:t>
            </a:r>
            <a:r>
              <a:rPr lang="en-US" dirty="0"/>
              <a:t>C – </a:t>
            </a:r>
            <a:r>
              <a:rPr lang="ru-RU" dirty="0"/>
              <a:t>уровень 2 (канальный)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IP – </a:t>
            </a:r>
            <a:r>
              <a:rPr lang="ru-RU" sz="1800" dirty="0">
                <a:latin typeface="+mn-lt"/>
              </a:rPr>
              <a:t>уровень 3 (сетевой)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DNS </a:t>
            </a:r>
            <a:r>
              <a:rPr lang="ru-RU" sz="1800" dirty="0">
                <a:latin typeface="+mn-lt"/>
              </a:rPr>
              <a:t>– уровень 7 (прикладной)</a:t>
            </a:r>
          </a:p>
        </p:txBody>
      </p:sp>
    </p:spTree>
    <p:extLst>
      <p:ext uri="{BB962C8B-B14F-4D97-AF65-F5344CB8AC3E}">
        <p14:creationId xmlns:p14="http://schemas.microsoft.com/office/powerpoint/2010/main" val="3381960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6515FB-47DC-C481-EB44-575B625D0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MAC-</a:t>
            </a:r>
            <a:r>
              <a:rPr lang="ru-RU"/>
              <a:t>адрес </a:t>
            </a:r>
          </a:p>
        </p:txBody>
      </p:sp>
      <p:pic>
        <p:nvPicPr>
          <p:cNvPr id="1030" name="Picture 6" descr="Когда сис. админ стал официантом">
            <a:extLst>
              <a:ext uri="{FF2B5EF4-FFF2-40B4-BE49-F238E27FC236}">
                <a16:creationId xmlns:a16="http://schemas.microsoft.com/office/drawing/2014/main" id="{597C7515-4BA2-74CC-6E13-82A8AF81E7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723" y="1168651"/>
            <a:ext cx="4211569" cy="4218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7">
            <a:extLst>
              <a:ext uri="{FF2B5EF4-FFF2-40B4-BE49-F238E27FC236}">
                <a16:creationId xmlns:a16="http://schemas.microsoft.com/office/drawing/2014/main" id="{808D96EE-C5E7-120F-99FF-5A9240804D1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4722812" y="2774110"/>
            <a:ext cx="6212666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	MAC-адрес (Media Access Control)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— это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уникальный физический идентификатор, присваиваемый каждому сетевому устройству (компьютеру, роутеру, смартфону) на этапе производства.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600" dirty="0">
                <a:solidFill>
                  <a:schemeClr val="tx1"/>
                </a:solidFill>
              </a:rPr>
              <a:t>	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Он выглядит как 48-битная комбинация из 6 пар шестнадцатеричных цифр (например, 18-67-B0-42-1D-2E) и используется для идентификации оборудования в локальной сети. </a:t>
            </a:r>
          </a:p>
        </p:txBody>
      </p:sp>
    </p:spTree>
    <p:extLst>
      <p:ext uri="{BB962C8B-B14F-4D97-AF65-F5344CB8AC3E}">
        <p14:creationId xmlns:p14="http://schemas.microsoft.com/office/powerpoint/2010/main" val="427961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56F348-7735-ED9E-26F1-32AF25E46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tx1"/>
                </a:solidFill>
                <a:effectLst/>
              </a:rPr>
              <a:t>IP-адрес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BFF7D20-B424-4E07-A35E-FC9AAD10286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/>
          </a:bodyPr>
          <a:lstStyle/>
          <a:p>
            <a:r>
              <a:rPr lang="ru-RU" b="1" dirty="0">
                <a:solidFill>
                  <a:schemeClr val="tx1"/>
                </a:solidFill>
                <a:effectLst/>
              </a:rPr>
              <a:t>IP-адрес </a:t>
            </a:r>
            <a:r>
              <a:rPr lang="ru-RU" b="1" dirty="0">
                <a:solidFill>
                  <a:schemeClr val="tx1"/>
                </a:solidFill>
              </a:rPr>
              <a:t>Internet Protocol Address) </a:t>
            </a:r>
            <a:r>
              <a:rPr lang="ru-RU" dirty="0">
                <a:solidFill>
                  <a:schemeClr val="tx1"/>
                </a:solidFill>
              </a:rPr>
              <a:t>— это уникальный числовой идентификатор, присваиваемый каждому устройству (компьютеру, смартфону, принтеру) при подключении к локальной сети или интернету. Он работает как почтовый адрес, обеспечивая маршрутизацию данных и обмен информацией между устройствами.</a:t>
            </a:r>
          </a:p>
        </p:txBody>
      </p:sp>
      <p:pic>
        <p:nvPicPr>
          <p:cNvPr id="2052" name="Picture 4" descr="Hmmm yes. Legit IP address. · ProgrammerHumor.io">
            <a:extLst>
              <a:ext uri="{FF2B5EF4-FFF2-40B4-BE49-F238E27FC236}">
                <a16:creationId xmlns:a16="http://schemas.microsoft.com/office/drawing/2014/main" id="{C224264C-6BBD-5052-D0BE-C9C2DC657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020" y="1804810"/>
            <a:ext cx="3495675" cy="275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1445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6B202D-5593-85DC-24BD-595378A56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0393" y="3824201"/>
            <a:ext cx="3293144" cy="931409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Система </a:t>
            </a:r>
            <a:r>
              <a:rPr lang="en-US" b="1" dirty="0"/>
              <a:t>DNS</a:t>
            </a:r>
            <a:br>
              <a:rPr lang="en-US" b="1" dirty="0"/>
            </a:b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06DBEA8-1740-6E64-BFDB-D01E0CEC0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35" y="412690"/>
            <a:ext cx="7497221" cy="3877216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9E77C33A-1A89-0CE6-9FB6-5817BFCCD4B7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322035" y="4487021"/>
            <a:ext cx="11433052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DNS (Система доменных имён) — это иерархическая распределенная система, преобразующая понятные человеку буквенные адреса сайтов (например, google.com) в числовые IP-адреса (142.250.185.78), необходимые компьютерам для поиска и связи. Она работает как «телефонная книга» интернета, позволяя пользователям не запоминать сложные цифровые адреса. </a:t>
            </a:r>
          </a:p>
        </p:txBody>
      </p:sp>
    </p:spTree>
    <p:extLst>
      <p:ext uri="{BB962C8B-B14F-4D97-AF65-F5344CB8AC3E}">
        <p14:creationId xmlns:p14="http://schemas.microsoft.com/office/powerpoint/2010/main" val="4223403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0A4B92B3-B3AD-FC26-4D6A-04BA9D224BEF}"/>
              </a:ext>
            </a:extLst>
          </p:cNvPr>
          <p:cNvSpPr/>
          <p:nvPr/>
        </p:nvSpPr>
        <p:spPr>
          <a:xfrm>
            <a:off x="182312" y="3736498"/>
            <a:ext cx="5101840" cy="176699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23710DC0-0B8B-FCDA-6DBB-63065B7F978D}"/>
              </a:ext>
            </a:extLst>
          </p:cNvPr>
          <p:cNvSpPr/>
          <p:nvPr/>
        </p:nvSpPr>
        <p:spPr>
          <a:xfrm>
            <a:off x="6870818" y="3798318"/>
            <a:ext cx="4218771" cy="142808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6982F482-9245-2EB7-4180-A2B0E83E8A3C}"/>
              </a:ext>
            </a:extLst>
          </p:cNvPr>
          <p:cNvSpPr/>
          <p:nvPr/>
        </p:nvSpPr>
        <p:spPr>
          <a:xfrm>
            <a:off x="6232732" y="863125"/>
            <a:ext cx="5346819" cy="150406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4010DD7C-B131-3AC3-32DC-1016DBF8B4F0}"/>
              </a:ext>
            </a:extLst>
          </p:cNvPr>
          <p:cNvSpPr/>
          <p:nvPr/>
        </p:nvSpPr>
        <p:spPr>
          <a:xfrm>
            <a:off x="384561" y="1034042"/>
            <a:ext cx="4366901" cy="101566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EABEEF-310D-629F-2595-24EE09E056ED}"/>
              </a:ext>
            </a:extLst>
          </p:cNvPr>
          <p:cNvSpPr txBox="1"/>
          <p:nvPr/>
        </p:nvSpPr>
        <p:spPr>
          <a:xfrm>
            <a:off x="384561" y="179462"/>
            <a:ext cx="11194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Взаимодействие протоколов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EE3063-6843-E069-11E5-E9474D4302BA}"/>
              </a:ext>
            </a:extLst>
          </p:cNvPr>
          <p:cNvSpPr txBox="1"/>
          <p:nvPr/>
        </p:nvSpPr>
        <p:spPr>
          <a:xfrm>
            <a:off x="239282" y="1034042"/>
            <a:ext cx="43669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b="1" dirty="0"/>
              <a:t>Этап 1. Разрешение имени (</a:t>
            </a:r>
            <a:r>
              <a:rPr lang="en-US" sz="1200" b="1" dirty="0"/>
              <a:t>DNS</a:t>
            </a:r>
            <a:r>
              <a:rPr lang="ru-RU" sz="1200" b="1" dirty="0"/>
              <a:t>)</a:t>
            </a:r>
            <a:br>
              <a:rPr lang="ru-RU" sz="1200" dirty="0"/>
            </a:br>
            <a:r>
              <a:rPr lang="ru-RU" sz="1200" dirty="0"/>
              <a:t>Клиент (192.168.1.100) → DNS-сервер (195.19.40.10):    Запрос: A-запись для www.samgtu.ru</a:t>
            </a:r>
          </a:p>
          <a:p>
            <a:pPr algn="ctr"/>
            <a:r>
              <a:rPr lang="ru-RU" sz="1200" dirty="0"/>
              <a:t>DNS-сервер → Клиент:    </a:t>
            </a:r>
          </a:p>
          <a:p>
            <a:pPr algn="ctr"/>
            <a:r>
              <a:rPr lang="ru-RU" sz="1200" dirty="0"/>
              <a:t>Ответ: www.samgtu.ru = 195.19.40.161</a:t>
            </a:r>
          </a:p>
        </p:txBody>
      </p:sp>
      <p:sp>
        <p:nvSpPr>
          <p:cNvPr id="5" name="Стрелка: вправо 4">
            <a:extLst>
              <a:ext uri="{FF2B5EF4-FFF2-40B4-BE49-F238E27FC236}">
                <a16:creationId xmlns:a16="http://schemas.microsoft.com/office/drawing/2014/main" id="{957A92C7-C8F4-C55F-7FB4-2D70BEBEA7B2}"/>
              </a:ext>
            </a:extLst>
          </p:cNvPr>
          <p:cNvSpPr/>
          <p:nvPr/>
        </p:nvSpPr>
        <p:spPr>
          <a:xfrm>
            <a:off x="4888194" y="1452142"/>
            <a:ext cx="1207806" cy="179461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AAEFE5-A931-1603-5B79-F4DFFD600D11}"/>
              </a:ext>
            </a:extLst>
          </p:cNvPr>
          <p:cNvSpPr txBox="1"/>
          <p:nvPr/>
        </p:nvSpPr>
        <p:spPr>
          <a:xfrm>
            <a:off x="6232732" y="939105"/>
            <a:ext cx="525423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b="1" dirty="0"/>
              <a:t>Этап 2. Формирование </a:t>
            </a:r>
            <a:r>
              <a:rPr lang="en-US" sz="1200" b="1" dirty="0"/>
              <a:t>IP-</a:t>
            </a:r>
            <a:r>
              <a:rPr lang="ru-RU" sz="1200" b="1" dirty="0"/>
              <a:t>датаграммы</a:t>
            </a:r>
          </a:p>
          <a:p>
            <a:pPr algn="ctr"/>
            <a:r>
              <a:rPr lang="ru-RU" sz="1200" dirty="0"/>
              <a:t>Заголовок </a:t>
            </a:r>
            <a:r>
              <a:rPr lang="en-US" sz="1200" dirty="0"/>
              <a:t>IP-</a:t>
            </a:r>
            <a:r>
              <a:rPr lang="ru-RU" sz="1200" dirty="0"/>
              <a:t>пакета:</a:t>
            </a:r>
          </a:p>
          <a:p>
            <a:pPr algn="ctr"/>
            <a:r>
              <a:rPr lang="ru-RU" sz="1200" dirty="0"/>
              <a:t>Версия: </a:t>
            </a:r>
            <a:r>
              <a:rPr lang="en-US" sz="1200" dirty="0"/>
              <a:t>IPv4 </a:t>
            </a:r>
            <a:endParaRPr lang="ru-RU" sz="1200" dirty="0"/>
          </a:p>
          <a:p>
            <a:pPr algn="ctr"/>
            <a:r>
              <a:rPr lang="en-US" sz="1200" dirty="0"/>
              <a:t>Source IP: 192.168.1.100 </a:t>
            </a:r>
            <a:endParaRPr lang="ru-RU" sz="1200" dirty="0"/>
          </a:p>
          <a:p>
            <a:pPr algn="ctr"/>
            <a:r>
              <a:rPr lang="en-US" sz="1200" dirty="0"/>
              <a:t> Destination IP: 195.19.40.161</a:t>
            </a:r>
            <a:endParaRPr lang="ru-RU" sz="1200" dirty="0"/>
          </a:p>
          <a:p>
            <a:pPr algn="ctr"/>
            <a:r>
              <a:rPr lang="ru-RU" sz="1200" dirty="0"/>
              <a:t>Протокол верхнего уровня: </a:t>
            </a:r>
            <a:r>
              <a:rPr lang="en-US" sz="1200" dirty="0"/>
              <a:t>TCP</a:t>
            </a:r>
            <a:endParaRPr lang="ru-RU" sz="1200" dirty="0"/>
          </a:p>
          <a:p>
            <a:pPr algn="ctr"/>
            <a:r>
              <a:rPr lang="en-US" sz="1200" dirty="0"/>
              <a:t> </a:t>
            </a:r>
            <a:r>
              <a:rPr lang="ru-RU" sz="1200" dirty="0"/>
              <a:t>Длина, контрольная сумма, </a:t>
            </a:r>
            <a:r>
              <a:rPr lang="en-US" sz="1200" dirty="0"/>
              <a:t>TTL…</a:t>
            </a:r>
            <a:endParaRPr lang="ru-RU" sz="1200" dirty="0"/>
          </a:p>
        </p:txBody>
      </p:sp>
      <p:sp>
        <p:nvSpPr>
          <p:cNvPr id="8" name="Стрелка: вправо 7">
            <a:extLst>
              <a:ext uri="{FF2B5EF4-FFF2-40B4-BE49-F238E27FC236}">
                <a16:creationId xmlns:a16="http://schemas.microsoft.com/office/drawing/2014/main" id="{129D7287-C2D2-7401-518F-BDE819B6F832}"/>
              </a:ext>
            </a:extLst>
          </p:cNvPr>
          <p:cNvSpPr/>
          <p:nvPr/>
        </p:nvSpPr>
        <p:spPr>
          <a:xfrm rot="5400000">
            <a:off x="8302237" y="3042864"/>
            <a:ext cx="1207806" cy="179461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B5420C-1B43-1442-9378-9B8C3E338D6D}"/>
              </a:ext>
            </a:extLst>
          </p:cNvPr>
          <p:cNvSpPr txBox="1"/>
          <p:nvPr/>
        </p:nvSpPr>
        <p:spPr>
          <a:xfrm>
            <a:off x="6722689" y="3841403"/>
            <a:ext cx="436690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b="1" dirty="0"/>
              <a:t>Этап 3. Инкапсуляция в кадр </a:t>
            </a:r>
            <a:r>
              <a:rPr lang="en-US" sz="1200" b="1" dirty="0"/>
              <a:t>Ethernet</a:t>
            </a:r>
          </a:p>
          <a:p>
            <a:pPr algn="ctr"/>
            <a:r>
              <a:rPr lang="ru-RU" sz="1200" dirty="0"/>
              <a:t>Кадр </a:t>
            </a:r>
            <a:r>
              <a:rPr lang="en-US" sz="1200" dirty="0"/>
              <a:t>Ethernet (</a:t>
            </a:r>
            <a:r>
              <a:rPr lang="ru-RU" sz="1200" dirty="0"/>
              <a:t>канальный уровень): </a:t>
            </a:r>
          </a:p>
          <a:p>
            <a:pPr algn="ctr"/>
            <a:r>
              <a:rPr lang="en-US" sz="1200" dirty="0"/>
              <a:t>Destination MAC: 00-14-22-01-23-45  (MAC </a:t>
            </a:r>
            <a:r>
              <a:rPr lang="ru-RU" sz="1200" dirty="0"/>
              <a:t>роутера) </a:t>
            </a:r>
          </a:p>
          <a:p>
            <a:pPr algn="ctr"/>
            <a:r>
              <a:rPr lang="en-US" sz="1200" dirty="0"/>
              <a:t>Source MAC: 00-1A-2B-3C-4D-5E       (MAC </a:t>
            </a:r>
            <a:r>
              <a:rPr lang="ru-RU" sz="1200" dirty="0"/>
              <a:t>клиента) </a:t>
            </a:r>
          </a:p>
          <a:p>
            <a:pPr algn="ctr"/>
            <a:r>
              <a:rPr lang="en-US" sz="1200" dirty="0"/>
              <a:t>Type: 0x0800 (IPv4) </a:t>
            </a:r>
            <a:endParaRPr lang="ru-RU" sz="1200" dirty="0"/>
          </a:p>
          <a:p>
            <a:pPr algn="ctr"/>
            <a:r>
              <a:rPr lang="ru-RU" sz="1200" dirty="0"/>
              <a:t>Данные: </a:t>
            </a:r>
            <a:r>
              <a:rPr lang="en-US" sz="1200" dirty="0"/>
              <a:t>IP-</a:t>
            </a:r>
            <a:r>
              <a:rPr lang="ru-RU" sz="1200" dirty="0"/>
              <a:t>пакет</a:t>
            </a:r>
          </a:p>
          <a:p>
            <a:pPr algn="ctr"/>
            <a:r>
              <a:rPr lang="ru-RU" sz="1200" dirty="0"/>
              <a:t>Контрольная сумма кадра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760E0F-D791-9360-AC81-3885C546C31F}"/>
              </a:ext>
            </a:extLst>
          </p:cNvPr>
          <p:cNvSpPr txBox="1"/>
          <p:nvPr/>
        </p:nvSpPr>
        <p:spPr>
          <a:xfrm>
            <a:off x="387411" y="3798318"/>
            <a:ext cx="46916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b="1" dirty="0"/>
              <a:t>Этап 4. Маршрутизация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ru-RU" sz="1200" dirty="0"/>
              <a:t>Кадр передается на роутер (шлюз по умолчанию)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ru-RU" sz="1200" dirty="0"/>
              <a:t>Роутер извлекает IP-пакет, анализирует </a:t>
            </a:r>
            <a:r>
              <a:rPr lang="ru-RU" sz="1200" dirty="0" err="1"/>
              <a:t>Destination</a:t>
            </a:r>
            <a:r>
              <a:rPr lang="ru-RU" sz="1200" dirty="0"/>
              <a:t> IP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ru-RU" sz="1200" dirty="0"/>
              <a:t>По таблице маршрутизации определяет следующий </a:t>
            </a:r>
            <a:r>
              <a:rPr lang="ru-RU" sz="1200" dirty="0" err="1"/>
              <a:t>hop</a:t>
            </a:r>
            <a:endParaRPr lang="ru-RU" sz="1200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ru-RU" sz="1200" dirty="0"/>
              <a:t>Формирует новый кадр с MAC-адресом следующего узла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ru-RU" sz="1200" dirty="0"/>
              <a:t>Процесс повторяется до достижения целевой сети</a:t>
            </a:r>
          </a:p>
          <a:p>
            <a:pPr algn="ctr"/>
            <a:endParaRPr lang="ru-RU" sz="1200" dirty="0"/>
          </a:p>
        </p:txBody>
      </p:sp>
      <p:sp>
        <p:nvSpPr>
          <p:cNvPr id="13" name="Стрелка: вправо 12">
            <a:extLst>
              <a:ext uri="{FF2B5EF4-FFF2-40B4-BE49-F238E27FC236}">
                <a16:creationId xmlns:a16="http://schemas.microsoft.com/office/drawing/2014/main" id="{5181161B-A625-E037-B1E8-F76AF43BE7B2}"/>
              </a:ext>
            </a:extLst>
          </p:cNvPr>
          <p:cNvSpPr/>
          <p:nvPr/>
        </p:nvSpPr>
        <p:spPr>
          <a:xfrm rot="10800000">
            <a:off x="5457913" y="4422627"/>
            <a:ext cx="1207806" cy="179461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1429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3B74F49C-AA84-700F-5EAA-0000A4302F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907442"/>
              </p:ext>
            </p:extLst>
          </p:nvPr>
        </p:nvGraphicFramePr>
        <p:xfrm>
          <a:off x="0" y="-57684"/>
          <a:ext cx="12191999" cy="69156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8027">
                  <a:extLst>
                    <a:ext uri="{9D8B030D-6E8A-4147-A177-3AD203B41FA5}">
                      <a16:colId xmlns:a16="http://schemas.microsoft.com/office/drawing/2014/main" val="938720838"/>
                    </a:ext>
                  </a:extLst>
                </a:gridCol>
                <a:gridCol w="3283831">
                  <a:extLst>
                    <a:ext uri="{9D8B030D-6E8A-4147-A177-3AD203B41FA5}">
                      <a16:colId xmlns:a16="http://schemas.microsoft.com/office/drawing/2014/main" val="3443503101"/>
                    </a:ext>
                  </a:extLst>
                </a:gridCol>
                <a:gridCol w="3931065">
                  <a:extLst>
                    <a:ext uri="{9D8B030D-6E8A-4147-A177-3AD203B41FA5}">
                      <a16:colId xmlns:a16="http://schemas.microsoft.com/office/drawing/2014/main" val="3726703626"/>
                    </a:ext>
                  </a:extLst>
                </a:gridCol>
                <a:gridCol w="2689076">
                  <a:extLst>
                    <a:ext uri="{9D8B030D-6E8A-4147-A177-3AD203B41FA5}">
                      <a16:colId xmlns:a16="http://schemas.microsoft.com/office/drawing/2014/main" val="3115751884"/>
                    </a:ext>
                  </a:extLst>
                </a:gridCol>
              </a:tblGrid>
              <a:tr h="707926">
                <a:tc gridSpan="4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dirty="0"/>
                        <a:t>Сравнительный анализ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dirty="0"/>
                        <a:t>Базовых протокол сети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0705529"/>
                  </a:ext>
                </a:extLst>
              </a:tr>
              <a:tr h="707926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Параметр сравнения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MAC-</a:t>
                      </a:r>
                      <a:r>
                        <a:rPr lang="ru-RU" sz="1600" dirty="0"/>
                        <a:t>адрес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IP-</a:t>
                      </a:r>
                      <a:r>
                        <a:rPr lang="ru-RU" sz="1600" dirty="0"/>
                        <a:t>адрес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DNS </a:t>
                      </a:r>
                      <a:endParaRPr lang="ru-RU" sz="16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120180"/>
                  </a:ext>
                </a:extLst>
              </a:tr>
              <a:tr h="916638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Уровень </a:t>
                      </a:r>
                      <a:r>
                        <a:rPr lang="en-US" sz="1600" dirty="0"/>
                        <a:t>OSI</a:t>
                      </a:r>
                      <a:endParaRPr lang="ru-RU" sz="16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Канальный(</a:t>
                      </a:r>
                      <a:r>
                        <a:rPr lang="en-US" sz="1600" dirty="0"/>
                        <a:t>L2</a:t>
                      </a:r>
                      <a:r>
                        <a:rPr lang="ru-RU" sz="16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Сетевой (</a:t>
                      </a:r>
                      <a:r>
                        <a:rPr lang="en-US" sz="1600" dirty="0"/>
                        <a:t>L3)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Прикладной(</a:t>
                      </a:r>
                      <a:r>
                        <a:rPr lang="en-US" sz="1600" dirty="0"/>
                        <a:t>L7</a:t>
                      </a:r>
                      <a:r>
                        <a:rPr lang="ru-RU" sz="16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192137"/>
                  </a:ext>
                </a:extLst>
              </a:tr>
              <a:tr h="916638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Длина адреса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48 бит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32 бит (</a:t>
                      </a:r>
                      <a:r>
                        <a:rPr lang="en-US" sz="1600" dirty="0"/>
                        <a:t>IPv4</a:t>
                      </a:r>
                      <a:r>
                        <a:rPr lang="ru-RU" sz="1600" dirty="0"/>
                        <a:t>)</a:t>
                      </a:r>
                      <a:r>
                        <a:rPr lang="en-US" sz="1600" dirty="0"/>
                        <a:t>, 128 </a:t>
                      </a:r>
                      <a:r>
                        <a:rPr lang="ru-RU" sz="1600" dirty="0"/>
                        <a:t>бит</a:t>
                      </a:r>
                      <a:r>
                        <a:rPr lang="en-US" sz="1600" dirty="0"/>
                        <a:t> (IPv6)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До 255 символов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338710"/>
                  </a:ext>
                </a:extLst>
              </a:tr>
              <a:tr h="530686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Область действия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Локальная сеть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Глобальная (интернет)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Глобальная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896965"/>
                  </a:ext>
                </a:extLst>
              </a:tr>
              <a:tr h="916638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Способ назначения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Аппаратный (производитель)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Программный (</a:t>
                      </a:r>
                      <a:r>
                        <a:rPr lang="en-US" sz="1600" dirty="0"/>
                        <a:t>DHCP/</a:t>
                      </a:r>
                      <a:r>
                        <a:rPr lang="ru-RU" sz="1600" dirty="0"/>
                        <a:t>статичный)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Административный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8649457"/>
                  </a:ext>
                </a:extLst>
              </a:tr>
              <a:tr h="130259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Функция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Доступ к среде, идентификация узла в сегменте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Маршрутизация между сетями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Преобразования имён в адреса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47106"/>
                  </a:ext>
                </a:extLst>
              </a:tr>
              <a:tr h="916638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Протоколы</a:t>
                      </a:r>
                      <a:r>
                        <a:rPr lang="en-US" sz="1600" dirty="0"/>
                        <a:t>/</a:t>
                      </a:r>
                      <a:endParaRPr lang="ru-RU" sz="1600" dirty="0"/>
                    </a:p>
                    <a:p>
                      <a:pPr algn="ctr"/>
                      <a:r>
                        <a:rPr lang="ru-RU" sz="1600" dirty="0"/>
                        <a:t>технологии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Ethernet, Wi-Fi, ARP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IPv4, IPv6, ICMP, DHCP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DNS (UDP/TCP </a:t>
                      </a:r>
                      <a:r>
                        <a:rPr lang="ru-RU" sz="1600" dirty="0"/>
                        <a:t>порт 53)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6914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3265556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146</TotalTime>
  <Words>543</Words>
  <Application>Microsoft Office PowerPoint</Application>
  <PresentationFormat>Широкоэкранный</PresentationFormat>
  <Paragraphs>96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Aptos</vt:lpstr>
      <vt:lpstr>Arial</vt:lpstr>
      <vt:lpstr>Century Gothic</vt:lpstr>
      <vt:lpstr>Wingdings 3</vt:lpstr>
      <vt:lpstr>Сектор</vt:lpstr>
      <vt:lpstr>Базовые протоколы сети Интернет: IP, MAC, DNS </vt:lpstr>
      <vt:lpstr>Презентация PowerPoint</vt:lpstr>
      <vt:lpstr>MAC-адрес </vt:lpstr>
      <vt:lpstr>IP-адрес</vt:lpstr>
      <vt:lpstr>Система DNS 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yaotai _</dc:creator>
  <cp:lastModifiedBy>yaotai _</cp:lastModifiedBy>
  <cp:revision>1</cp:revision>
  <dcterms:created xsi:type="dcterms:W3CDTF">2026-02-24T12:35:15Z</dcterms:created>
  <dcterms:modified xsi:type="dcterms:W3CDTF">2026-02-24T15:01:47Z</dcterms:modified>
</cp:coreProperties>
</file>